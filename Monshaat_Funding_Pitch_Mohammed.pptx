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20"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0000"/>
                </a:solidFill>
                <a:latin typeface="Arial"/>
              </a:defRPr>
            </a:pPr>
            <a:r>
              <a:rPr sz="1000" b="0" i="0" u="none" strike="noStrike">
                <a:solidFill>
                  <a:srgbClr val="000000"/>
                </a:solidFill>
                <a:latin typeface="Arial"/>
              </a:rPr>
              <a:t>KSA Tech Sector – Estimated Market Size (SAR Billions) / حجم السوق بالمليار ريال</a:t>
            </a:r>
          </a:p>
        </c:rich>
      </c:tx>
      <c:overlay val="0"/>
    </c:title>
    <c:autoTitleDeleted val="0"/>
    <c:plotArea>
      <c:layout/>
      <c:barChart>
        <c:barDir val="col"/>
        <c:grouping val="clustered"/>
        <c:varyColors val="0"/>
        <c:ser>
          <c:idx val="0"/>
          <c:order val="0"/>
          <c:tx>
            <c:strRef>
              <c:f>Sheet1!$B$1</c:f>
              <c:strCache>
                <c:ptCount val="1"/>
                <c:pt idx="0">
                  <c:v>Market Size (SAR Billions)</c:v>
                </c:pt>
              </c:strCache>
            </c:strRef>
          </c:tx>
          <c:spPr>
            <a:solidFill>
              <a:srgbClr val="0B6B3A"/>
            </a:solidFill>
            <a:effectLst/>
          </c:spPr>
          <c:invertIfNegative val="0"/>
          <c:dPt>
            <c:idx val="0"/>
            <c:invertIfNegative val="0"/>
            <c:bubble3D val="0"/>
            <c:extLst>
              <c:ext xmlns:c16="http://schemas.microsoft.com/office/drawing/2014/chart" uri="{C3380CC4-5D6E-409C-BE32-E72D297353CC}">
                <c16:uniqueId val="{00000001-1FDB-4DB3-9828-ED39FDD4C019}"/>
              </c:ext>
            </c:extLst>
          </c:dPt>
          <c:dPt>
            <c:idx val="1"/>
            <c:invertIfNegative val="0"/>
            <c:bubble3D val="0"/>
            <c:spPr>
              <a:solidFill>
                <a:srgbClr val="1D8A50"/>
              </a:solidFill>
              <a:effectLst/>
            </c:spPr>
            <c:extLst>
              <c:ext xmlns:c16="http://schemas.microsoft.com/office/drawing/2014/chart" uri="{C3380CC4-5D6E-409C-BE32-E72D297353CC}">
                <c16:uniqueId val="{00000003-1FDB-4DB3-9828-ED39FDD4C019}"/>
              </c:ext>
            </c:extLst>
          </c:dPt>
          <c:dPt>
            <c:idx val="2"/>
            <c:invertIfNegative val="0"/>
            <c:bubble3D val="0"/>
            <c:spPr>
              <a:solidFill>
                <a:srgbClr val="2EAD68"/>
              </a:solidFill>
              <a:effectLst/>
            </c:spPr>
            <c:extLst>
              <c:ext xmlns:c16="http://schemas.microsoft.com/office/drawing/2014/chart" uri="{C3380CC4-5D6E-409C-BE32-E72D297353CC}">
                <c16:uniqueId val="{00000005-1FDB-4DB3-9828-ED39FDD4C019}"/>
              </c:ext>
            </c:extLst>
          </c:dPt>
          <c:dPt>
            <c:idx val="3"/>
            <c:invertIfNegative val="0"/>
            <c:bubble3D val="0"/>
            <c:spPr>
              <a:solidFill>
                <a:srgbClr val="3FCA80"/>
              </a:solidFill>
              <a:effectLst/>
            </c:spPr>
            <c:extLst>
              <c:ext xmlns:c16="http://schemas.microsoft.com/office/drawing/2014/chart" uri="{C3380CC4-5D6E-409C-BE32-E72D297353CC}">
                <c16:uniqueId val="{00000007-1FDB-4DB3-9828-ED39FDD4C019}"/>
              </c:ext>
            </c:extLst>
          </c:dPt>
          <c:dPt>
            <c:idx val="4"/>
            <c:invertIfNegative val="0"/>
            <c:bubble3D val="0"/>
            <c:spPr>
              <a:solidFill>
                <a:srgbClr val="50E595"/>
              </a:solidFill>
              <a:effectLst/>
            </c:spPr>
            <c:extLst>
              <c:ext xmlns:c16="http://schemas.microsoft.com/office/drawing/2014/chart" uri="{C3380CC4-5D6E-409C-BE32-E72D297353CC}">
                <c16:uniqueId val="{00000009-1FDB-4DB3-9828-ED39FDD4C019}"/>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FinTech</c:v>
                </c:pt>
                <c:pt idx="1">
                  <c:v>EdTech</c:v>
                </c:pt>
                <c:pt idx="2">
                  <c:v>HealthTech</c:v>
                </c:pt>
                <c:pt idx="3">
                  <c:v>E-Commerce</c:v>
                </c:pt>
                <c:pt idx="4">
                  <c:v>GovTech</c:v>
                </c:pt>
              </c:strCache>
            </c:strRef>
          </c:cat>
          <c:val>
            <c:numRef>
              <c:f>Sheet1!$B$2:$B$6</c:f>
              <c:numCache>
                <c:formatCode>General</c:formatCode>
                <c:ptCount val="5"/>
                <c:pt idx="0">
                  <c:v>2.1</c:v>
                </c:pt>
                <c:pt idx="1">
                  <c:v>1.4</c:v>
                </c:pt>
                <c:pt idx="2">
                  <c:v>1.8</c:v>
                </c:pt>
                <c:pt idx="3">
                  <c:v>3.5</c:v>
                </c:pt>
                <c:pt idx="4">
                  <c:v>1.2</c:v>
                </c:pt>
              </c:numCache>
            </c:numRef>
          </c:val>
          <c:extLst>
            <c:ext xmlns:c16="http://schemas.microsoft.com/office/drawing/2014/chart" uri="{C3380CC4-5D6E-409C-BE32-E72D297353CC}">
              <c16:uniqueId val="{0000000A-1FDB-4DB3-9828-ED39FDD4C01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الإيرادات / Revenue (SAR K)</c:v>
                </c:pt>
              </c:strCache>
            </c:strRef>
          </c:tx>
          <c:spPr>
            <a:solidFill>
              <a:srgbClr val="0B6B3A"/>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150</c:v>
                </c:pt>
                <c:pt idx="1">
                  <c:v>480</c:v>
                </c:pt>
                <c:pt idx="2">
                  <c:v>1200</c:v>
                </c:pt>
              </c:numCache>
            </c:numRef>
          </c:val>
          <c:extLst>
            <c:ext xmlns:c16="http://schemas.microsoft.com/office/drawing/2014/chart" uri="{C3380CC4-5D6E-409C-BE32-E72D297353CC}">
              <c16:uniqueId val="{00000000-13C8-4B0E-9B5F-C278242807E7}"/>
            </c:ext>
          </c:extLst>
        </c:ser>
        <c:ser>
          <c:idx val="1"/>
          <c:order val="1"/>
          <c:tx>
            <c:strRef>
              <c:f>Sheet1!$C$1</c:f>
              <c:strCache>
                <c:ptCount val="1"/>
                <c:pt idx="0">
                  <c:v>التكاليف / Costs (SAR K)</c:v>
                </c:pt>
              </c:strCache>
            </c:strRef>
          </c:tx>
          <c:spPr>
            <a:solidFill>
              <a:srgbClr val="C9A228"/>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420</c:v>
                </c:pt>
                <c:pt idx="1">
                  <c:v>360</c:v>
                </c:pt>
                <c:pt idx="2">
                  <c:v>600</c:v>
                </c:pt>
              </c:numCache>
            </c:numRef>
          </c:val>
          <c:extLst>
            <c:ext xmlns:c16="http://schemas.microsoft.com/office/drawing/2014/chart" uri="{C3380CC4-5D6E-409C-BE32-E72D297353CC}">
              <c16:uniqueId val="{00000001-13C8-4B0E-9B5F-C278242807E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0000"/>
                </a:solidFill>
                <a:latin typeface="Arial"/>
              </a:defRPr>
            </a:pPr>
            <a:r>
              <a:rPr sz="1000" b="0" i="0" u="none" strike="noStrike">
                <a:solidFill>
                  <a:srgbClr val="000000"/>
                </a:solidFill>
                <a:latin typeface="Arial"/>
              </a:rPr>
              <a:t>توزيع الميزانية / Budget Allocation</a:t>
            </a:r>
          </a:p>
        </c:rich>
      </c:tx>
      <c:overlay val="0"/>
    </c:title>
    <c:autoTitleDeleted val="0"/>
    <c:plotArea>
      <c:layout/>
      <c:pie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0B6B3A"/>
              </a:solidFill>
              <a:effectLst/>
            </c:spPr>
            <c:extLst>
              <c:ext xmlns:c16="http://schemas.microsoft.com/office/drawing/2014/chart" uri="{C3380CC4-5D6E-409C-BE32-E72D297353CC}">
                <c16:uniqueId val="{00000001-633F-4164-8AE1-B8685215616A}"/>
              </c:ext>
            </c:extLst>
          </c:dPt>
          <c:dPt>
            <c:idx val="1"/>
            <c:bubble3D val="0"/>
            <c:spPr>
              <a:solidFill>
                <a:srgbClr val="C9A228"/>
              </a:solidFill>
              <a:effectLst/>
            </c:spPr>
            <c:extLst>
              <c:ext xmlns:c16="http://schemas.microsoft.com/office/drawing/2014/chart" uri="{C3380CC4-5D6E-409C-BE32-E72D297353CC}">
                <c16:uniqueId val="{00000003-633F-4164-8AE1-B8685215616A}"/>
              </c:ext>
            </c:extLst>
          </c:dPt>
          <c:dPt>
            <c:idx val="2"/>
            <c:bubble3D val="0"/>
            <c:spPr>
              <a:solidFill>
                <a:srgbClr val="0D1F3C"/>
              </a:solidFill>
              <a:effectLst/>
            </c:spPr>
            <c:extLst>
              <c:ext xmlns:c16="http://schemas.microsoft.com/office/drawing/2014/chart" uri="{C3380CC4-5D6E-409C-BE32-E72D297353CC}">
                <c16:uniqueId val="{00000005-633F-4164-8AE1-B8685215616A}"/>
              </c:ext>
            </c:extLst>
          </c:dPt>
          <c:dPt>
            <c:idx val="3"/>
            <c:bubble3D val="0"/>
            <c:spPr>
              <a:solidFill>
                <a:srgbClr val="6B7280"/>
              </a:solidFill>
              <a:effectLst/>
            </c:spPr>
            <c:extLst>
              <c:ext xmlns:c16="http://schemas.microsoft.com/office/drawing/2014/chart" uri="{C3380CC4-5D6E-409C-BE32-E72D297353CC}">
                <c16:uniqueId val="{00000007-633F-4164-8AE1-B8685215616A}"/>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33F-4164-8AE1-B8685215616A}"/>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33F-4164-8AE1-B8685215616A}"/>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33F-4164-8AE1-B8685215616A}"/>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33F-4164-8AE1-B8685215616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التطوير التقني / Tech Dev</c:v>
                </c:pt>
                <c:pt idx="1">
                  <c:v>التسويق / Marketing</c:v>
                </c:pt>
                <c:pt idx="2">
                  <c:v>العمليات / Operations</c:v>
                </c:pt>
                <c:pt idx="3">
                  <c:v>الاحتياطي / Reserve</c:v>
                </c:pt>
              </c:strCache>
            </c:strRef>
          </c:cat>
          <c:val>
            <c:numRef>
              <c:f>Sheet1!$B$2:$B$5</c:f>
              <c:numCache>
                <c:formatCode>General</c:formatCode>
                <c:ptCount val="4"/>
                <c:pt idx="0">
                  <c:v>45</c:v>
                </c:pt>
                <c:pt idx="1">
                  <c:v>25</c:v>
                </c:pt>
                <c:pt idx="2">
                  <c:v>20</c:v>
                </c:pt>
                <c:pt idx="3">
                  <c:v>10</c:v>
                </c:pt>
              </c:numCache>
            </c:numRef>
          </c:val>
          <c:extLst>
            <c:ext xmlns:c16="http://schemas.microsoft.com/office/drawing/2014/chart" uri="{C3380CC4-5D6E-409C-BE32-E72D297353CC}">
              <c16:uniqueId val="{00000008-633F-4164-8AE1-B8685215616A}"/>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537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6B3A"/>
          </a:solidFill>
          <a:ln/>
        </p:spPr>
        <p:txBody>
          <a:bodyPr/>
          <a:lstStyle/>
          <a:p>
            <a:endParaRPr lang="en-US"/>
          </a:p>
        </p:txBody>
      </p:sp>
      <p:sp>
        <p:nvSpPr>
          <p:cNvPr id="3" name="Shape 1"/>
          <p:cNvSpPr/>
          <p:nvPr/>
        </p:nvSpPr>
        <p:spPr>
          <a:xfrm>
            <a:off x="9034272" y="0"/>
            <a:ext cx="109728" cy="5143500"/>
          </a:xfrm>
          <a:prstGeom prst="rect">
            <a:avLst/>
          </a:prstGeom>
          <a:solidFill>
            <a:srgbClr val="C9A228"/>
          </a:solidFill>
          <a:ln/>
        </p:spPr>
        <p:txBody>
          <a:bodyPr/>
          <a:lstStyle/>
          <a:p>
            <a:endParaRPr lang="en-US"/>
          </a:p>
        </p:txBody>
      </p:sp>
      <p:sp>
        <p:nvSpPr>
          <p:cNvPr id="4" name="Shape 2"/>
          <p:cNvSpPr/>
          <p:nvPr/>
        </p:nvSpPr>
        <p:spPr>
          <a:xfrm>
            <a:off x="164592" y="292608"/>
            <a:ext cx="5486400" cy="54864"/>
          </a:xfrm>
          <a:prstGeom prst="rect">
            <a:avLst/>
          </a:prstGeom>
          <a:solidFill>
            <a:srgbClr val="C9A228"/>
          </a:solidFill>
          <a:ln/>
        </p:spPr>
        <p:txBody>
          <a:bodyPr/>
          <a:lstStyle/>
          <a:p>
            <a:endParaRPr lang="en-US"/>
          </a:p>
        </p:txBody>
      </p:sp>
      <p:sp>
        <p:nvSpPr>
          <p:cNvPr id="5" name="Shape 3"/>
          <p:cNvSpPr/>
          <p:nvPr/>
        </p:nvSpPr>
        <p:spPr>
          <a:xfrm>
            <a:off x="6217920" y="457200"/>
            <a:ext cx="2560320" cy="1005840"/>
          </a:xfrm>
          <a:prstGeom prst="rect">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6309360" y="502920"/>
            <a:ext cx="2377440" cy="868680"/>
          </a:xfrm>
          <a:prstGeom prst="rect">
            <a:avLst/>
          </a:prstGeom>
          <a:noFill/>
          <a:ln/>
        </p:spPr>
        <p:txBody>
          <a:bodyPr wrap="square" rtlCol="0" anchor="ctr"/>
          <a:lstStyle/>
          <a:p>
            <a:pPr marL="0" indent="0" algn="ctr">
              <a:buNone/>
            </a:pPr>
            <a:r>
              <a:rPr lang="en-US" sz="1600" b="1" dirty="0">
                <a:solidFill>
                  <a:srgbClr val="FFFFFF"/>
                </a:solidFill>
              </a:rPr>
              <a:t>مُنشآت</a:t>
            </a:r>
            <a:endParaRPr lang="en-US" sz="1600" dirty="0"/>
          </a:p>
          <a:p>
            <a:pPr marL="0" indent="0" algn="ctr">
              <a:buNone/>
            </a:pPr>
            <a:r>
              <a:rPr lang="en-US" sz="900" dirty="0">
                <a:solidFill>
                  <a:srgbClr val="C8D8E8"/>
                </a:solidFill>
              </a:rPr>
              <a:t>Monshaat Funding Pitch</a:t>
            </a:r>
            <a:endParaRPr lang="en-US" sz="1600" dirty="0"/>
          </a:p>
        </p:txBody>
      </p:sp>
      <p:sp>
        <p:nvSpPr>
          <p:cNvPr id="7" name="Text 5"/>
          <p:cNvSpPr/>
          <p:nvPr/>
        </p:nvSpPr>
        <p:spPr>
          <a:xfrm>
            <a:off x="365760" y="960120"/>
            <a:ext cx="7772400" cy="685800"/>
          </a:xfrm>
          <a:prstGeom prst="rect">
            <a:avLst/>
          </a:prstGeom>
          <a:noFill/>
          <a:ln/>
        </p:spPr>
        <p:txBody>
          <a:bodyPr wrap="square" rtlCol="0" anchor="ctr"/>
          <a:lstStyle/>
          <a:p>
            <a:pPr marL="0" indent="0" algn="r">
              <a:buNone/>
            </a:pPr>
            <a:r>
              <a:rPr lang="en-US" sz="2800" b="1" dirty="0">
                <a:solidFill>
                  <a:srgbClr val="C9A228"/>
                </a:solidFill>
                <a:latin typeface="Arial" pitchFamily="34" charset="0"/>
                <a:ea typeface="Arial" pitchFamily="34" charset="-122"/>
                <a:cs typeface="Arial" pitchFamily="34" charset="-120"/>
              </a:rPr>
              <a:t>طلب تمويل مشروع ناشئ تقني</a:t>
            </a:r>
            <a:endParaRPr lang="en-US" sz="2800" dirty="0"/>
          </a:p>
        </p:txBody>
      </p:sp>
      <p:sp>
        <p:nvSpPr>
          <p:cNvPr id="8" name="Text 6"/>
          <p:cNvSpPr/>
          <p:nvPr/>
        </p:nvSpPr>
        <p:spPr>
          <a:xfrm>
            <a:off x="365760" y="1600200"/>
            <a:ext cx="7772400" cy="548640"/>
          </a:xfrm>
          <a:prstGeom prst="rect">
            <a:avLst/>
          </a:prstGeom>
          <a:noFill/>
          <a:ln/>
        </p:spPr>
        <p:txBody>
          <a:bodyPr wrap="square"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Tech Startup Financing Proposal</a:t>
            </a:r>
            <a:endParaRPr lang="en-US" sz="2200" dirty="0"/>
          </a:p>
        </p:txBody>
      </p:sp>
      <p:sp>
        <p:nvSpPr>
          <p:cNvPr id="9" name="Shape 7"/>
          <p:cNvSpPr/>
          <p:nvPr/>
        </p:nvSpPr>
        <p:spPr>
          <a:xfrm>
            <a:off x="365760" y="2240280"/>
            <a:ext cx="5029200" cy="36576"/>
          </a:xfrm>
          <a:prstGeom prst="rect">
            <a:avLst/>
          </a:prstGeom>
          <a:solidFill>
            <a:srgbClr val="C9A228"/>
          </a:solidFill>
          <a:ln/>
        </p:spPr>
        <p:txBody>
          <a:bodyPr/>
          <a:lstStyle/>
          <a:p>
            <a:endParaRPr lang="en-US"/>
          </a:p>
        </p:txBody>
      </p:sp>
      <p:sp>
        <p:nvSpPr>
          <p:cNvPr id="10" name="Text 8"/>
          <p:cNvSpPr/>
          <p:nvPr/>
        </p:nvSpPr>
        <p:spPr>
          <a:xfrm>
            <a:off x="365760" y="2359152"/>
            <a:ext cx="7772400" cy="384048"/>
          </a:xfrm>
          <a:prstGeom prst="rect">
            <a:avLst/>
          </a:prstGeom>
          <a:noFill/>
          <a:ln/>
        </p:spPr>
        <p:txBody>
          <a:bodyPr wrap="square" rtlCol="0" anchor="ctr"/>
          <a:lstStyle/>
          <a:p>
            <a:pPr marL="0" indent="0" algn="r">
              <a:buNone/>
            </a:pPr>
            <a:r>
              <a:rPr lang="en-US" sz="1400" dirty="0">
                <a:solidFill>
                  <a:srgbClr val="A8C4E0"/>
                </a:solidFill>
                <a:latin typeface="Arial" pitchFamily="34" charset="0"/>
                <a:ea typeface="Arial" pitchFamily="34" charset="-122"/>
                <a:cs typeface="Arial" pitchFamily="34" charset="-120"/>
              </a:rPr>
              <a:t>شريكك نحو نجاح رؤية ٢٠٣٠</a:t>
            </a:r>
            <a:endParaRPr lang="en-US" sz="1400" dirty="0"/>
          </a:p>
        </p:txBody>
      </p:sp>
      <p:sp>
        <p:nvSpPr>
          <p:cNvPr id="11" name="Text 9"/>
          <p:cNvSpPr/>
          <p:nvPr/>
        </p:nvSpPr>
        <p:spPr>
          <a:xfrm>
            <a:off x="365760" y="2724912"/>
            <a:ext cx="7772400" cy="347472"/>
          </a:xfrm>
          <a:prstGeom prst="rect">
            <a:avLst/>
          </a:prstGeom>
          <a:noFill/>
          <a:ln/>
        </p:spPr>
        <p:txBody>
          <a:bodyPr wrap="square" rtlCol="0" anchor="ctr"/>
          <a:lstStyle/>
          <a:p>
            <a:pPr marL="0" indent="0" algn="l">
              <a:buNone/>
            </a:pPr>
            <a:r>
              <a:rPr lang="en-US" sz="1200" dirty="0">
                <a:solidFill>
                  <a:srgbClr val="A8C4E0"/>
                </a:solidFill>
                <a:latin typeface="Calibri" pitchFamily="34" charset="0"/>
                <a:ea typeface="Calibri" pitchFamily="34" charset="-122"/>
                <a:cs typeface="Calibri" pitchFamily="34" charset="-120"/>
              </a:rPr>
              <a:t>Your Partner Towards Vision 2030 Success</a:t>
            </a:r>
            <a:endParaRPr lang="en-US" sz="1200" dirty="0"/>
          </a:p>
        </p:txBody>
      </p:sp>
      <p:sp>
        <p:nvSpPr>
          <p:cNvPr id="12" name="Shape 10"/>
          <p:cNvSpPr/>
          <p:nvPr/>
        </p:nvSpPr>
        <p:spPr>
          <a:xfrm>
            <a:off x="164592" y="4251960"/>
            <a:ext cx="8869680" cy="685800"/>
          </a:xfrm>
          <a:prstGeom prst="rect">
            <a:avLst/>
          </a:prstGeom>
          <a:solidFill>
            <a:srgbClr val="0B1930"/>
          </a:solidFill>
          <a:ln/>
        </p:spPr>
        <p:txBody>
          <a:bodyPr/>
          <a:lstStyle/>
          <a:p>
            <a:endParaRPr lang="en-US"/>
          </a:p>
        </p:txBody>
      </p:sp>
      <p:sp>
        <p:nvSpPr>
          <p:cNvPr id="13" name="Text 11"/>
          <p:cNvSpPr/>
          <p:nvPr/>
        </p:nvSpPr>
        <p:spPr>
          <a:xfrm>
            <a:off x="365760" y="4297680"/>
            <a:ext cx="8229600" cy="548640"/>
          </a:xfrm>
          <a:prstGeom prst="rect">
            <a:avLst/>
          </a:prstGeom>
          <a:noFill/>
          <a:ln/>
        </p:spPr>
        <p:txBody>
          <a:bodyPr wrap="square" rtlCol="0" anchor="ctr"/>
          <a:lstStyle/>
          <a:p>
            <a:pPr marL="0" indent="0" algn="ctr">
              <a:buNone/>
            </a:pPr>
            <a:r>
              <a:rPr lang="en-US" sz="1100" dirty="0">
                <a:solidFill>
                  <a:srgbClr val="A8C4E0"/>
                </a:solidFill>
              </a:rPr>
              <a:t>Mohammed Abotargah  |  tarj123@gmail.com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نظرة عامة  |  Executive Summary</a:t>
            </a:r>
            <a:endParaRPr lang="en-US" sz="2000" dirty="0"/>
          </a:p>
        </p:txBody>
      </p:sp>
      <p:sp>
        <p:nvSpPr>
          <p:cNvPr id="5" name="Shape 3"/>
          <p:cNvSpPr/>
          <p:nvPr/>
        </p:nvSpPr>
        <p:spPr>
          <a:xfrm>
            <a:off x="320040" y="960120"/>
            <a:ext cx="1993392" cy="1874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960120"/>
            <a:ext cx="1993392" cy="109728"/>
          </a:xfrm>
          <a:prstGeom prst="rect">
            <a:avLst/>
          </a:prstGeom>
          <a:solidFill>
            <a:srgbClr val="0B6B3A"/>
          </a:solidFill>
          <a:ln/>
        </p:spPr>
        <p:txBody>
          <a:bodyPr/>
          <a:lstStyle/>
          <a:p>
            <a:endParaRPr lang="en-US"/>
          </a:p>
        </p:txBody>
      </p:sp>
      <p:sp>
        <p:nvSpPr>
          <p:cNvPr id="7" name="Text 5"/>
          <p:cNvSpPr/>
          <p:nvPr/>
        </p:nvSpPr>
        <p:spPr>
          <a:xfrm>
            <a:off x="411480" y="1115568"/>
            <a:ext cx="1810512" cy="868680"/>
          </a:xfrm>
          <a:prstGeom prst="rect">
            <a:avLst/>
          </a:prstGeom>
          <a:noFill/>
          <a:ln/>
        </p:spPr>
        <p:txBody>
          <a:bodyPr wrap="square" rtlCol="0" anchor="ctr"/>
          <a:lstStyle/>
          <a:p>
            <a:pPr marL="0" indent="0" algn="ctr">
              <a:buNone/>
            </a:pPr>
            <a:r>
              <a:rPr lang="en-US" sz="1300" b="1" dirty="0">
                <a:solidFill>
                  <a:srgbClr val="374151"/>
                </a:solidFill>
              </a:rPr>
              <a:t>ناشئة</a:t>
            </a:r>
            <a:endParaRPr lang="en-US" sz="1300" dirty="0"/>
          </a:p>
          <a:p>
            <a:pPr marL="0" indent="0" algn="ctr">
              <a:buNone/>
            </a:pPr>
            <a:r>
              <a:rPr lang="en-US" sz="1300" b="1" dirty="0">
                <a:solidFill>
                  <a:srgbClr val="374151"/>
                </a:solidFill>
              </a:rPr>
              <a:t>Early Stage</a:t>
            </a:r>
            <a:endParaRPr lang="en-US" sz="1300" dirty="0"/>
          </a:p>
        </p:txBody>
      </p:sp>
      <p:sp>
        <p:nvSpPr>
          <p:cNvPr id="8" name="Text 6"/>
          <p:cNvSpPr/>
          <p:nvPr/>
        </p:nvSpPr>
        <p:spPr>
          <a:xfrm>
            <a:off x="411480" y="1993392"/>
            <a:ext cx="1810512" cy="256032"/>
          </a:xfrm>
          <a:prstGeom prst="rect">
            <a:avLst/>
          </a:prstGeom>
          <a:noFill/>
          <a:ln/>
        </p:spPr>
        <p:txBody>
          <a:bodyPr wrap="square" rtlCol="0" anchor="ctr"/>
          <a:lstStyle/>
          <a:p>
            <a:pPr marL="0" indent="0" algn="ctr">
              <a:buNone/>
            </a:pPr>
            <a:r>
              <a:rPr lang="en-US" sz="1000" b="1" dirty="0">
                <a:solidFill>
                  <a:srgbClr val="0B6B3A"/>
                </a:solidFill>
              </a:rPr>
              <a:t>المرحلة</a:t>
            </a:r>
            <a:endParaRPr lang="en-US" sz="1000" dirty="0"/>
          </a:p>
        </p:txBody>
      </p:sp>
      <p:sp>
        <p:nvSpPr>
          <p:cNvPr id="9" name="Text 7"/>
          <p:cNvSpPr/>
          <p:nvPr/>
        </p:nvSpPr>
        <p:spPr>
          <a:xfrm>
            <a:off x="411480" y="2231136"/>
            <a:ext cx="1810512" cy="228600"/>
          </a:xfrm>
          <a:prstGeom prst="rect">
            <a:avLst/>
          </a:prstGeom>
          <a:noFill/>
          <a:ln/>
        </p:spPr>
        <p:txBody>
          <a:bodyPr wrap="square" rtlCol="0" anchor="ctr"/>
          <a:lstStyle/>
          <a:p>
            <a:pPr marL="0" indent="0" algn="ctr">
              <a:buNone/>
            </a:pPr>
            <a:r>
              <a:rPr lang="en-US" sz="900" dirty="0">
                <a:solidFill>
                  <a:srgbClr val="6B7280"/>
                </a:solidFill>
              </a:rPr>
              <a:t>Stage</a:t>
            </a:r>
            <a:endParaRPr lang="en-US" sz="900" dirty="0"/>
          </a:p>
        </p:txBody>
      </p:sp>
      <p:sp>
        <p:nvSpPr>
          <p:cNvPr id="10" name="Shape 8"/>
          <p:cNvSpPr/>
          <p:nvPr/>
        </p:nvSpPr>
        <p:spPr>
          <a:xfrm>
            <a:off x="2496312" y="960120"/>
            <a:ext cx="1993392" cy="1874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496312" y="960120"/>
            <a:ext cx="1993392" cy="109728"/>
          </a:xfrm>
          <a:prstGeom prst="rect">
            <a:avLst/>
          </a:prstGeom>
          <a:solidFill>
            <a:srgbClr val="0D1F3C"/>
          </a:solidFill>
          <a:ln/>
        </p:spPr>
        <p:txBody>
          <a:bodyPr/>
          <a:lstStyle/>
          <a:p>
            <a:endParaRPr lang="en-US"/>
          </a:p>
        </p:txBody>
      </p:sp>
      <p:sp>
        <p:nvSpPr>
          <p:cNvPr id="12" name="Text 10"/>
          <p:cNvSpPr/>
          <p:nvPr/>
        </p:nvSpPr>
        <p:spPr>
          <a:xfrm>
            <a:off x="2587752" y="1115568"/>
            <a:ext cx="1810512" cy="868680"/>
          </a:xfrm>
          <a:prstGeom prst="rect">
            <a:avLst/>
          </a:prstGeom>
          <a:noFill/>
          <a:ln/>
        </p:spPr>
        <p:txBody>
          <a:bodyPr wrap="square" rtlCol="0" anchor="ctr"/>
          <a:lstStyle/>
          <a:p>
            <a:pPr marL="0" indent="0" algn="ctr">
              <a:buNone/>
            </a:pPr>
            <a:r>
              <a:rPr lang="en-US" sz="1300" b="1" dirty="0">
                <a:solidFill>
                  <a:srgbClr val="374151"/>
                </a:solidFill>
              </a:rPr>
              <a:t>SAR 500,000</a:t>
            </a:r>
            <a:endParaRPr lang="en-US" sz="1300" dirty="0"/>
          </a:p>
        </p:txBody>
      </p:sp>
      <p:sp>
        <p:nvSpPr>
          <p:cNvPr id="13" name="Text 11"/>
          <p:cNvSpPr/>
          <p:nvPr/>
        </p:nvSpPr>
        <p:spPr>
          <a:xfrm>
            <a:off x="2587752" y="1993392"/>
            <a:ext cx="1810512" cy="256032"/>
          </a:xfrm>
          <a:prstGeom prst="rect">
            <a:avLst/>
          </a:prstGeom>
          <a:noFill/>
          <a:ln/>
        </p:spPr>
        <p:txBody>
          <a:bodyPr wrap="square" rtlCol="0" anchor="ctr"/>
          <a:lstStyle/>
          <a:p>
            <a:pPr marL="0" indent="0" algn="ctr">
              <a:buNone/>
            </a:pPr>
            <a:r>
              <a:rPr lang="en-US" sz="1000" b="1" dirty="0">
                <a:solidFill>
                  <a:srgbClr val="0D1F3C"/>
                </a:solidFill>
              </a:rPr>
              <a:t>التمويل المطلوب</a:t>
            </a:r>
            <a:endParaRPr lang="en-US" sz="1000" dirty="0"/>
          </a:p>
        </p:txBody>
      </p:sp>
      <p:sp>
        <p:nvSpPr>
          <p:cNvPr id="14" name="Text 12"/>
          <p:cNvSpPr/>
          <p:nvPr/>
        </p:nvSpPr>
        <p:spPr>
          <a:xfrm>
            <a:off x="2587752" y="2231136"/>
            <a:ext cx="1810512" cy="228600"/>
          </a:xfrm>
          <a:prstGeom prst="rect">
            <a:avLst/>
          </a:prstGeom>
          <a:noFill/>
          <a:ln/>
        </p:spPr>
        <p:txBody>
          <a:bodyPr wrap="square" rtlCol="0" anchor="ctr"/>
          <a:lstStyle/>
          <a:p>
            <a:pPr marL="0" indent="0" algn="ctr">
              <a:buNone/>
            </a:pPr>
            <a:r>
              <a:rPr lang="en-US" sz="900" dirty="0">
                <a:solidFill>
                  <a:srgbClr val="6B7280"/>
                </a:solidFill>
              </a:rPr>
              <a:t>Funding Target</a:t>
            </a:r>
            <a:endParaRPr lang="en-US" sz="900" dirty="0"/>
          </a:p>
        </p:txBody>
      </p:sp>
      <p:sp>
        <p:nvSpPr>
          <p:cNvPr id="15" name="Shape 13"/>
          <p:cNvSpPr/>
          <p:nvPr/>
        </p:nvSpPr>
        <p:spPr>
          <a:xfrm>
            <a:off x="4672584" y="960120"/>
            <a:ext cx="1993392" cy="1874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672584" y="960120"/>
            <a:ext cx="1993392" cy="109728"/>
          </a:xfrm>
          <a:prstGeom prst="rect">
            <a:avLst/>
          </a:prstGeom>
          <a:solidFill>
            <a:srgbClr val="0B6B3A"/>
          </a:solidFill>
          <a:ln/>
        </p:spPr>
        <p:txBody>
          <a:bodyPr/>
          <a:lstStyle/>
          <a:p>
            <a:endParaRPr lang="en-US"/>
          </a:p>
        </p:txBody>
      </p:sp>
      <p:sp>
        <p:nvSpPr>
          <p:cNvPr id="17" name="Text 15"/>
          <p:cNvSpPr/>
          <p:nvPr/>
        </p:nvSpPr>
        <p:spPr>
          <a:xfrm>
            <a:off x="4764024" y="1115568"/>
            <a:ext cx="1810512" cy="868680"/>
          </a:xfrm>
          <a:prstGeom prst="rect">
            <a:avLst/>
          </a:prstGeom>
          <a:noFill/>
          <a:ln/>
        </p:spPr>
        <p:txBody>
          <a:bodyPr wrap="square" rtlCol="0" anchor="ctr"/>
          <a:lstStyle/>
          <a:p>
            <a:pPr marL="0" indent="0" algn="ctr">
              <a:buNone/>
            </a:pPr>
            <a:r>
              <a:rPr lang="en-US" sz="1300" b="1" dirty="0">
                <a:solidFill>
                  <a:srgbClr val="374151"/>
                </a:solidFill>
              </a:rPr>
              <a:t>تقنية</a:t>
            </a:r>
            <a:endParaRPr lang="en-US" sz="1300" dirty="0"/>
          </a:p>
          <a:p>
            <a:pPr marL="0" indent="0" algn="ctr">
              <a:buNone/>
            </a:pPr>
            <a:r>
              <a:rPr lang="en-US" sz="1300" b="1" dirty="0">
                <a:solidFill>
                  <a:srgbClr val="374151"/>
                </a:solidFill>
              </a:rPr>
              <a:t>Tech / Digital</a:t>
            </a:r>
            <a:endParaRPr lang="en-US" sz="1300" dirty="0"/>
          </a:p>
        </p:txBody>
      </p:sp>
      <p:sp>
        <p:nvSpPr>
          <p:cNvPr id="18" name="Text 16"/>
          <p:cNvSpPr/>
          <p:nvPr/>
        </p:nvSpPr>
        <p:spPr>
          <a:xfrm>
            <a:off x="4764024" y="1993392"/>
            <a:ext cx="1810512" cy="256032"/>
          </a:xfrm>
          <a:prstGeom prst="rect">
            <a:avLst/>
          </a:prstGeom>
          <a:noFill/>
          <a:ln/>
        </p:spPr>
        <p:txBody>
          <a:bodyPr wrap="square" rtlCol="0" anchor="ctr"/>
          <a:lstStyle/>
          <a:p>
            <a:pPr marL="0" indent="0" algn="ctr">
              <a:buNone/>
            </a:pPr>
            <a:r>
              <a:rPr lang="en-US" sz="1000" b="1" dirty="0">
                <a:solidFill>
                  <a:srgbClr val="0B6B3A"/>
                </a:solidFill>
              </a:rPr>
              <a:t>القطاع</a:t>
            </a:r>
            <a:endParaRPr lang="en-US" sz="1000" dirty="0"/>
          </a:p>
        </p:txBody>
      </p:sp>
      <p:sp>
        <p:nvSpPr>
          <p:cNvPr id="19" name="Text 17"/>
          <p:cNvSpPr/>
          <p:nvPr/>
        </p:nvSpPr>
        <p:spPr>
          <a:xfrm>
            <a:off x="4764024" y="2231136"/>
            <a:ext cx="1810512" cy="228600"/>
          </a:xfrm>
          <a:prstGeom prst="rect">
            <a:avLst/>
          </a:prstGeom>
          <a:noFill/>
          <a:ln/>
        </p:spPr>
        <p:txBody>
          <a:bodyPr wrap="square" rtlCol="0" anchor="ctr"/>
          <a:lstStyle/>
          <a:p>
            <a:pPr marL="0" indent="0" algn="ctr">
              <a:buNone/>
            </a:pPr>
            <a:r>
              <a:rPr lang="en-US" sz="900" dirty="0">
                <a:solidFill>
                  <a:srgbClr val="6B7280"/>
                </a:solidFill>
              </a:rPr>
              <a:t>Sector</a:t>
            </a:r>
            <a:endParaRPr lang="en-US" sz="900" dirty="0"/>
          </a:p>
        </p:txBody>
      </p:sp>
      <p:sp>
        <p:nvSpPr>
          <p:cNvPr id="20" name="Shape 18"/>
          <p:cNvSpPr/>
          <p:nvPr/>
        </p:nvSpPr>
        <p:spPr>
          <a:xfrm>
            <a:off x="6848856" y="960120"/>
            <a:ext cx="1993392" cy="1874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848856" y="960120"/>
            <a:ext cx="1993392" cy="109728"/>
          </a:xfrm>
          <a:prstGeom prst="rect">
            <a:avLst/>
          </a:prstGeom>
          <a:solidFill>
            <a:srgbClr val="C9A228"/>
          </a:solidFill>
          <a:ln/>
        </p:spPr>
        <p:txBody>
          <a:bodyPr/>
          <a:lstStyle/>
          <a:p>
            <a:endParaRPr lang="en-US"/>
          </a:p>
        </p:txBody>
      </p:sp>
      <p:sp>
        <p:nvSpPr>
          <p:cNvPr id="22" name="Text 20"/>
          <p:cNvSpPr/>
          <p:nvPr/>
        </p:nvSpPr>
        <p:spPr>
          <a:xfrm>
            <a:off x="6940296" y="1115568"/>
            <a:ext cx="1810512" cy="868680"/>
          </a:xfrm>
          <a:prstGeom prst="rect">
            <a:avLst/>
          </a:prstGeom>
          <a:noFill/>
          <a:ln/>
        </p:spPr>
        <p:txBody>
          <a:bodyPr wrap="square" rtlCol="0" anchor="ctr"/>
          <a:lstStyle/>
          <a:p>
            <a:pPr marL="0" indent="0" algn="ctr">
              <a:buNone/>
            </a:pPr>
            <a:r>
              <a:rPr lang="en-US" sz="1300" b="1" dirty="0">
                <a:solidFill>
                  <a:srgbClr val="374151"/>
                </a:solidFill>
              </a:rPr>
              <a:t>رؤية ٢٠٣٠</a:t>
            </a:r>
            <a:endParaRPr lang="en-US" sz="1300" dirty="0"/>
          </a:p>
          <a:p>
            <a:pPr marL="0" indent="0" algn="ctr">
              <a:buNone/>
            </a:pPr>
            <a:r>
              <a:rPr lang="en-US" sz="1300" b="1" dirty="0">
                <a:solidFill>
                  <a:srgbClr val="374151"/>
                </a:solidFill>
              </a:rPr>
              <a:t>Vision 2030</a:t>
            </a:r>
            <a:endParaRPr lang="en-US" sz="1300" dirty="0"/>
          </a:p>
        </p:txBody>
      </p:sp>
      <p:sp>
        <p:nvSpPr>
          <p:cNvPr id="23" name="Text 21"/>
          <p:cNvSpPr/>
          <p:nvPr/>
        </p:nvSpPr>
        <p:spPr>
          <a:xfrm>
            <a:off x="6940296" y="1993392"/>
            <a:ext cx="1810512" cy="256032"/>
          </a:xfrm>
          <a:prstGeom prst="rect">
            <a:avLst/>
          </a:prstGeom>
          <a:noFill/>
          <a:ln/>
        </p:spPr>
        <p:txBody>
          <a:bodyPr wrap="square" rtlCol="0" anchor="ctr"/>
          <a:lstStyle/>
          <a:p>
            <a:pPr marL="0" indent="0" algn="ctr">
              <a:buNone/>
            </a:pPr>
            <a:r>
              <a:rPr lang="en-US" sz="1000" b="1" dirty="0">
                <a:solidFill>
                  <a:srgbClr val="C9A228"/>
                </a:solidFill>
              </a:rPr>
              <a:t>التوافق</a:t>
            </a:r>
            <a:endParaRPr lang="en-US" sz="1000" dirty="0"/>
          </a:p>
        </p:txBody>
      </p:sp>
      <p:sp>
        <p:nvSpPr>
          <p:cNvPr id="24" name="Text 22"/>
          <p:cNvSpPr/>
          <p:nvPr/>
        </p:nvSpPr>
        <p:spPr>
          <a:xfrm>
            <a:off x="6940296" y="2231136"/>
            <a:ext cx="1810512" cy="228600"/>
          </a:xfrm>
          <a:prstGeom prst="rect">
            <a:avLst/>
          </a:prstGeom>
          <a:noFill/>
          <a:ln/>
        </p:spPr>
        <p:txBody>
          <a:bodyPr wrap="square" rtlCol="0" anchor="ctr"/>
          <a:lstStyle/>
          <a:p>
            <a:pPr marL="0" indent="0" algn="ctr">
              <a:buNone/>
            </a:pPr>
            <a:r>
              <a:rPr lang="en-US" sz="900" dirty="0">
                <a:solidFill>
                  <a:srgbClr val="6B7280"/>
                </a:solidFill>
              </a:rPr>
              <a:t>Alignment</a:t>
            </a:r>
            <a:endParaRPr lang="en-US" sz="900" dirty="0"/>
          </a:p>
        </p:txBody>
      </p:sp>
      <p:sp>
        <p:nvSpPr>
          <p:cNvPr id="25" name="Shape 23"/>
          <p:cNvSpPr/>
          <p:nvPr/>
        </p:nvSpPr>
        <p:spPr>
          <a:xfrm>
            <a:off x="320040" y="2999232"/>
            <a:ext cx="8503920" cy="16642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320040" y="2999232"/>
            <a:ext cx="109728" cy="1664208"/>
          </a:xfrm>
          <a:prstGeom prst="rect">
            <a:avLst/>
          </a:prstGeom>
          <a:solidFill>
            <a:srgbClr val="0B6B3A"/>
          </a:solidFill>
          <a:ln/>
        </p:spPr>
        <p:txBody>
          <a:bodyPr/>
          <a:lstStyle/>
          <a:p>
            <a:endParaRPr lang="en-US"/>
          </a:p>
        </p:txBody>
      </p:sp>
      <p:sp>
        <p:nvSpPr>
          <p:cNvPr id="27" name="Text 25"/>
          <p:cNvSpPr/>
          <p:nvPr/>
        </p:nvSpPr>
        <p:spPr>
          <a:xfrm>
            <a:off x="594360" y="3090672"/>
            <a:ext cx="8138160" cy="475488"/>
          </a:xfrm>
          <a:prstGeom prst="rect">
            <a:avLst/>
          </a:prstGeom>
          <a:noFill/>
          <a:ln/>
        </p:spPr>
        <p:txBody>
          <a:bodyPr wrap="square" rtlCol="0" anchor="ctr"/>
          <a:lstStyle/>
          <a:p>
            <a:pPr marL="0" indent="0" algn="r">
              <a:buNone/>
            </a:pPr>
            <a:r>
              <a:rPr lang="en-US" sz="1100" dirty="0">
                <a:solidFill>
                  <a:srgbClr val="374151"/>
                </a:solidFill>
              </a:rPr>
              <a:t>نسعى إلى تطوير منصة تقنية رقمية مبتكرة تخدم السوق السعودي وتتوافق مع أهداف رؤية المملكة ٢٠٣٠. نطلب تمويلاً بمبلغ لا يتجاوز ٥٠٠,٠٠٠ ريال لإطلاق المشروع وتحقيق مرحلة التشغيل الأولى.</a:t>
            </a:r>
            <a:endParaRPr lang="en-US" sz="1100" dirty="0"/>
          </a:p>
        </p:txBody>
      </p:sp>
      <p:sp>
        <p:nvSpPr>
          <p:cNvPr id="28" name="Text 26"/>
          <p:cNvSpPr/>
          <p:nvPr/>
        </p:nvSpPr>
        <p:spPr>
          <a:xfrm>
            <a:off x="594360" y="3584448"/>
            <a:ext cx="8138160" cy="475488"/>
          </a:xfrm>
          <a:prstGeom prst="rect">
            <a:avLst/>
          </a:prstGeom>
          <a:noFill/>
          <a:ln/>
        </p:spPr>
        <p:txBody>
          <a:bodyPr wrap="square" rtlCol="0" anchor="ctr"/>
          <a:lstStyle/>
          <a:p>
            <a:pPr marL="0" indent="0" algn="l">
              <a:buNone/>
            </a:pPr>
            <a:r>
              <a:rPr lang="en-US" sz="1100" dirty="0">
                <a:solidFill>
                  <a:srgbClr val="6B7280"/>
                </a:solidFill>
              </a:rPr>
              <a:t>We are developing an innovative digital tech platform serving the Saudi market, aligned with Vision 2030 objectives. We seek seed financing of up to SAR 500,000 to launch operations and reach initial milestones.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المشكلة  |  The Problem</a:t>
            </a:r>
            <a:endParaRPr lang="en-US" sz="2000" dirty="0"/>
          </a:p>
        </p:txBody>
      </p:sp>
      <p:sp>
        <p:nvSpPr>
          <p:cNvPr id="5" name="Shape 3"/>
          <p:cNvSpPr/>
          <p:nvPr/>
        </p:nvSpPr>
        <p:spPr>
          <a:xfrm>
            <a:off x="320040" y="896112"/>
            <a:ext cx="2560320" cy="3840480"/>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20040" y="1005840"/>
            <a:ext cx="2560320" cy="1463040"/>
          </a:xfrm>
          <a:prstGeom prst="rect">
            <a:avLst/>
          </a:prstGeom>
          <a:noFill/>
          <a:ln/>
        </p:spPr>
        <p:txBody>
          <a:bodyPr wrap="square" rtlCol="0" anchor="ctr"/>
          <a:lstStyle/>
          <a:p>
            <a:pPr marL="0" indent="0" algn="ctr">
              <a:buNone/>
            </a:pPr>
            <a:r>
              <a:rPr lang="en-US" sz="8000" b="1" dirty="0">
                <a:solidFill>
                  <a:srgbClr val="C9A228"/>
                </a:solidFill>
              </a:rPr>
              <a:t>؟</a:t>
            </a:r>
            <a:endParaRPr lang="en-US" sz="8000" dirty="0"/>
          </a:p>
        </p:txBody>
      </p:sp>
      <p:sp>
        <p:nvSpPr>
          <p:cNvPr id="7" name="Text 5"/>
          <p:cNvSpPr/>
          <p:nvPr/>
        </p:nvSpPr>
        <p:spPr>
          <a:xfrm>
            <a:off x="320040" y="2560320"/>
            <a:ext cx="2560320" cy="914400"/>
          </a:xfrm>
          <a:prstGeom prst="rect">
            <a:avLst/>
          </a:prstGeom>
          <a:noFill/>
          <a:ln/>
        </p:spPr>
        <p:txBody>
          <a:bodyPr wrap="square" rtlCol="0" anchor="ctr"/>
          <a:lstStyle/>
          <a:p>
            <a:pPr marL="0" indent="0" algn="ctr">
              <a:buNone/>
            </a:pPr>
            <a:r>
              <a:rPr lang="en-US" sz="1300" b="1" dirty="0">
                <a:solidFill>
                  <a:srgbClr val="FFFFFF"/>
                </a:solidFill>
              </a:rPr>
              <a:t>ما المشكلة؟</a:t>
            </a:r>
            <a:endParaRPr lang="en-US" sz="1300" dirty="0"/>
          </a:p>
          <a:p>
            <a:pPr marL="0" indent="0" algn="ctr">
              <a:buNone/>
            </a:pPr>
            <a:r>
              <a:rPr lang="en-US" sz="1300" b="1" dirty="0">
                <a:solidFill>
                  <a:srgbClr val="FFFFFF"/>
                </a:solidFill>
              </a:rPr>
              <a:t>What's the Problem?</a:t>
            </a:r>
            <a:endParaRPr lang="en-US" sz="1300" dirty="0"/>
          </a:p>
        </p:txBody>
      </p:sp>
      <p:sp>
        <p:nvSpPr>
          <p:cNvPr id="8" name="Shape 6"/>
          <p:cNvSpPr/>
          <p:nvPr/>
        </p:nvSpPr>
        <p:spPr>
          <a:xfrm>
            <a:off x="3063240" y="914400"/>
            <a:ext cx="5760720" cy="11155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063240" y="914400"/>
            <a:ext cx="109728" cy="1115568"/>
          </a:xfrm>
          <a:prstGeom prst="rect">
            <a:avLst/>
          </a:prstGeom>
          <a:solidFill>
            <a:srgbClr val="D32F2F"/>
          </a:solidFill>
          <a:ln/>
        </p:spPr>
        <p:txBody>
          <a:bodyPr/>
          <a:lstStyle/>
          <a:p>
            <a:endParaRPr lang="en-US"/>
          </a:p>
        </p:txBody>
      </p:sp>
      <p:sp>
        <p:nvSpPr>
          <p:cNvPr id="10" name="Text 8"/>
          <p:cNvSpPr/>
          <p:nvPr/>
        </p:nvSpPr>
        <p:spPr>
          <a:xfrm>
            <a:off x="3291840" y="987552"/>
            <a:ext cx="5486400" cy="274320"/>
          </a:xfrm>
          <a:prstGeom prst="rect">
            <a:avLst/>
          </a:prstGeom>
          <a:noFill/>
          <a:ln/>
        </p:spPr>
        <p:txBody>
          <a:bodyPr wrap="square" rtlCol="0" anchor="ctr"/>
          <a:lstStyle/>
          <a:p>
            <a:pPr marL="0" indent="0" algn="l">
              <a:buNone/>
            </a:pPr>
            <a:r>
              <a:rPr lang="en-US" sz="1200" b="1" dirty="0">
                <a:solidFill>
                  <a:srgbClr val="374151"/>
                </a:solidFill>
              </a:rPr>
              <a:t>غياب حلول رقمية فعالة  /  Lack of Efficient Digital Solutions</a:t>
            </a:r>
            <a:endParaRPr lang="en-US" sz="1200" dirty="0"/>
          </a:p>
        </p:txBody>
      </p:sp>
      <p:sp>
        <p:nvSpPr>
          <p:cNvPr id="11" name="Text 9"/>
          <p:cNvSpPr/>
          <p:nvPr/>
        </p:nvSpPr>
        <p:spPr>
          <a:xfrm>
            <a:off x="3291840" y="1261872"/>
            <a:ext cx="5486400" cy="658368"/>
          </a:xfrm>
          <a:prstGeom prst="rect">
            <a:avLst/>
          </a:prstGeom>
          <a:noFill/>
          <a:ln/>
        </p:spPr>
        <p:txBody>
          <a:bodyPr wrap="square" rtlCol="0" anchor="ctr"/>
          <a:lstStyle/>
          <a:p>
            <a:pPr marL="0" indent="0" algn="l">
              <a:buNone/>
            </a:pPr>
            <a:r>
              <a:rPr lang="en-US" sz="950" dirty="0">
                <a:solidFill>
                  <a:srgbClr val="6B7280"/>
                </a:solidFill>
              </a:rPr>
              <a:t>يعاني السوق المحلي من نقص في الحلول الرقمية المتكاملة المصممة للمستخدم السعودي / The local market lacks integrated digital solutions designed for the Saudi user.</a:t>
            </a:r>
            <a:endParaRPr lang="en-US" sz="950" dirty="0"/>
          </a:p>
        </p:txBody>
      </p:sp>
      <p:sp>
        <p:nvSpPr>
          <p:cNvPr id="12" name="Shape 10"/>
          <p:cNvSpPr/>
          <p:nvPr/>
        </p:nvSpPr>
        <p:spPr>
          <a:xfrm>
            <a:off x="3063240" y="2176272"/>
            <a:ext cx="5760720" cy="11155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063240" y="2176272"/>
            <a:ext cx="109728" cy="1115568"/>
          </a:xfrm>
          <a:prstGeom prst="rect">
            <a:avLst/>
          </a:prstGeom>
          <a:solidFill>
            <a:srgbClr val="C9A228"/>
          </a:solidFill>
          <a:ln/>
        </p:spPr>
        <p:txBody>
          <a:bodyPr/>
          <a:lstStyle/>
          <a:p>
            <a:endParaRPr lang="en-US"/>
          </a:p>
        </p:txBody>
      </p:sp>
      <p:sp>
        <p:nvSpPr>
          <p:cNvPr id="14" name="Text 12"/>
          <p:cNvSpPr/>
          <p:nvPr/>
        </p:nvSpPr>
        <p:spPr>
          <a:xfrm>
            <a:off x="3291840" y="2249424"/>
            <a:ext cx="5486400" cy="274320"/>
          </a:xfrm>
          <a:prstGeom prst="rect">
            <a:avLst/>
          </a:prstGeom>
          <a:noFill/>
          <a:ln/>
        </p:spPr>
        <p:txBody>
          <a:bodyPr wrap="square" rtlCol="0" anchor="ctr"/>
          <a:lstStyle/>
          <a:p>
            <a:pPr marL="0" indent="0" algn="l">
              <a:buNone/>
            </a:pPr>
            <a:r>
              <a:rPr lang="en-US" sz="1200" b="1" dirty="0">
                <a:solidFill>
                  <a:srgbClr val="374151"/>
                </a:solidFill>
              </a:rPr>
              <a:t>تجربة مستخدم متدنية  /  Poor User Experience</a:t>
            </a:r>
            <a:endParaRPr lang="en-US" sz="1200" dirty="0"/>
          </a:p>
        </p:txBody>
      </p:sp>
      <p:sp>
        <p:nvSpPr>
          <p:cNvPr id="15" name="Text 13"/>
          <p:cNvSpPr/>
          <p:nvPr/>
        </p:nvSpPr>
        <p:spPr>
          <a:xfrm>
            <a:off x="3291840" y="2523744"/>
            <a:ext cx="5486400" cy="658368"/>
          </a:xfrm>
          <a:prstGeom prst="rect">
            <a:avLst/>
          </a:prstGeom>
          <a:noFill/>
          <a:ln/>
        </p:spPr>
        <p:txBody>
          <a:bodyPr wrap="square" rtlCol="0" anchor="ctr"/>
          <a:lstStyle/>
          <a:p>
            <a:pPr marL="0" indent="0" algn="l">
              <a:buNone/>
            </a:pPr>
            <a:r>
              <a:rPr lang="en-US" sz="950" dirty="0">
                <a:solidFill>
                  <a:srgbClr val="6B7280"/>
                </a:solidFill>
              </a:rPr>
              <a:t>الحلول الموجودة لا تراعي اللغة والثقافة المحلية مما يقلل من التبني / Existing solutions don't account for local language and culture, reducing adoption.</a:t>
            </a:r>
            <a:endParaRPr lang="en-US" sz="950" dirty="0"/>
          </a:p>
        </p:txBody>
      </p:sp>
      <p:sp>
        <p:nvSpPr>
          <p:cNvPr id="16" name="Shape 14"/>
          <p:cNvSpPr/>
          <p:nvPr/>
        </p:nvSpPr>
        <p:spPr>
          <a:xfrm>
            <a:off x="3063240" y="3438144"/>
            <a:ext cx="5760720" cy="11155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063240" y="3438144"/>
            <a:ext cx="109728" cy="1115568"/>
          </a:xfrm>
          <a:prstGeom prst="rect">
            <a:avLst/>
          </a:prstGeom>
          <a:solidFill>
            <a:srgbClr val="0B6B3A"/>
          </a:solidFill>
          <a:ln/>
        </p:spPr>
        <p:txBody>
          <a:bodyPr/>
          <a:lstStyle/>
          <a:p>
            <a:endParaRPr lang="en-US"/>
          </a:p>
        </p:txBody>
      </p:sp>
      <p:sp>
        <p:nvSpPr>
          <p:cNvPr id="18" name="Text 16"/>
          <p:cNvSpPr/>
          <p:nvPr/>
        </p:nvSpPr>
        <p:spPr>
          <a:xfrm>
            <a:off x="3291840" y="3511296"/>
            <a:ext cx="5486400" cy="274320"/>
          </a:xfrm>
          <a:prstGeom prst="rect">
            <a:avLst/>
          </a:prstGeom>
          <a:noFill/>
          <a:ln/>
        </p:spPr>
        <p:txBody>
          <a:bodyPr wrap="square" rtlCol="0" anchor="ctr"/>
          <a:lstStyle/>
          <a:p>
            <a:pPr marL="0" indent="0" algn="l">
              <a:buNone/>
            </a:pPr>
            <a:r>
              <a:rPr lang="en-US" sz="1200" b="1" dirty="0">
                <a:solidFill>
                  <a:srgbClr val="374151"/>
                </a:solidFill>
              </a:rPr>
              <a:t>فرصة غير مستغلة  /  Untapped Opportunity</a:t>
            </a:r>
            <a:endParaRPr lang="en-US" sz="1200" dirty="0"/>
          </a:p>
        </p:txBody>
      </p:sp>
      <p:sp>
        <p:nvSpPr>
          <p:cNvPr id="19" name="Text 17"/>
          <p:cNvSpPr/>
          <p:nvPr/>
        </p:nvSpPr>
        <p:spPr>
          <a:xfrm>
            <a:off x="3291840" y="3785616"/>
            <a:ext cx="5486400" cy="658368"/>
          </a:xfrm>
          <a:prstGeom prst="rect">
            <a:avLst/>
          </a:prstGeom>
          <a:noFill/>
          <a:ln/>
        </p:spPr>
        <p:txBody>
          <a:bodyPr wrap="square" rtlCol="0" anchor="ctr"/>
          <a:lstStyle/>
          <a:p>
            <a:pPr marL="0" indent="0" algn="l">
              <a:buNone/>
            </a:pPr>
            <a:r>
              <a:rPr lang="en-US" sz="950" dirty="0">
                <a:solidFill>
                  <a:srgbClr val="6B7280"/>
                </a:solidFill>
              </a:rPr>
              <a:t>رؤية ٢٠٣٠ تفتح آفاقاً واسعة لم تستجب لها الشركات القائمة بعد / Vision 2030 opens vast opportunities that existing players haven't addressed yet.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6B3A"/>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الحل  |  Our Solution</a:t>
            </a:r>
            <a:endParaRPr lang="en-US" sz="2000" dirty="0"/>
          </a:p>
        </p:txBody>
      </p:sp>
      <p:sp>
        <p:nvSpPr>
          <p:cNvPr id="5" name="Shape 3"/>
          <p:cNvSpPr/>
          <p:nvPr/>
        </p:nvSpPr>
        <p:spPr>
          <a:xfrm>
            <a:off x="320040" y="896112"/>
            <a:ext cx="8503920" cy="960120"/>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57200" y="896112"/>
            <a:ext cx="8229600" cy="438912"/>
          </a:xfrm>
          <a:prstGeom prst="rect">
            <a:avLst/>
          </a:prstGeom>
          <a:noFill/>
          <a:ln/>
        </p:spPr>
        <p:txBody>
          <a:bodyPr wrap="square" rtlCol="0" anchor="ctr"/>
          <a:lstStyle/>
          <a:p>
            <a:pPr marL="0" indent="0" algn="r">
              <a:buNone/>
            </a:pPr>
            <a:r>
              <a:rPr lang="en-US" sz="1100" dirty="0">
                <a:solidFill>
                  <a:srgbClr val="FFFFFF"/>
                </a:solidFill>
              </a:rPr>
              <a:t>منصتنا الرقمية توفر حلاً متكاملاً باللغتين العربية والإنجليزية، مصمم خصيصاً لاحتياجات السوق السعودي، مع واجهة سهلة الاستخدام وإمكانات قابلة للتوسع.</a:t>
            </a:r>
            <a:endParaRPr lang="en-US" sz="1100" dirty="0"/>
          </a:p>
        </p:txBody>
      </p:sp>
      <p:sp>
        <p:nvSpPr>
          <p:cNvPr id="7" name="Text 5"/>
          <p:cNvSpPr/>
          <p:nvPr/>
        </p:nvSpPr>
        <p:spPr>
          <a:xfrm>
            <a:off x="457200" y="1353312"/>
            <a:ext cx="8229600" cy="384048"/>
          </a:xfrm>
          <a:prstGeom prst="rect">
            <a:avLst/>
          </a:prstGeom>
          <a:noFill/>
          <a:ln/>
        </p:spPr>
        <p:txBody>
          <a:bodyPr wrap="square" rtlCol="0" anchor="ctr"/>
          <a:lstStyle/>
          <a:p>
            <a:pPr marL="0" indent="0" algn="l">
              <a:buNone/>
            </a:pPr>
            <a:r>
              <a:rPr lang="en-US" sz="1050" dirty="0">
                <a:solidFill>
                  <a:srgbClr val="A8C4E0"/>
                </a:solidFill>
              </a:rPr>
              <a:t>Our digital platform provides a bilingual, fully integrated solution tailored to the Saudi market, with an intuitive interface and scalable capabilities.</a:t>
            </a:r>
            <a:endParaRPr lang="en-US" sz="1050" dirty="0"/>
          </a:p>
        </p:txBody>
      </p:sp>
      <p:sp>
        <p:nvSpPr>
          <p:cNvPr id="8" name="Shape 6"/>
          <p:cNvSpPr/>
          <p:nvPr/>
        </p:nvSpPr>
        <p:spPr>
          <a:xfrm>
            <a:off x="320040" y="2029968"/>
            <a:ext cx="1993392" cy="2606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 y="2029968"/>
            <a:ext cx="1993392" cy="109728"/>
          </a:xfrm>
          <a:prstGeom prst="rect">
            <a:avLst/>
          </a:prstGeom>
          <a:solidFill>
            <a:srgbClr val="0B6B3A"/>
          </a:solidFill>
          <a:ln/>
        </p:spPr>
        <p:txBody>
          <a:bodyPr/>
          <a:lstStyle/>
          <a:p>
            <a:endParaRPr lang="en-US"/>
          </a:p>
        </p:txBody>
      </p:sp>
      <p:sp>
        <p:nvSpPr>
          <p:cNvPr id="10" name="Shape 8"/>
          <p:cNvSpPr/>
          <p:nvPr/>
        </p:nvSpPr>
        <p:spPr>
          <a:xfrm>
            <a:off x="859536" y="2212848"/>
            <a:ext cx="914400" cy="914400"/>
          </a:xfrm>
          <a:prstGeom prst="ellipse">
            <a:avLst/>
          </a:prstGeom>
          <a:solidFill>
            <a:srgbClr val="0B6B3A"/>
          </a:solidFill>
          <a:ln/>
        </p:spPr>
        <p:txBody>
          <a:bodyPr/>
          <a:lstStyle/>
          <a:p>
            <a:endParaRPr lang="en-US"/>
          </a:p>
        </p:txBody>
      </p:sp>
      <p:sp>
        <p:nvSpPr>
          <p:cNvPr id="11" name="Text 9"/>
          <p:cNvSpPr/>
          <p:nvPr/>
        </p:nvSpPr>
        <p:spPr>
          <a:xfrm>
            <a:off x="859536" y="2212848"/>
            <a:ext cx="914400" cy="914400"/>
          </a:xfrm>
          <a:prstGeom prst="rect">
            <a:avLst/>
          </a:prstGeom>
          <a:noFill/>
          <a:ln/>
        </p:spPr>
        <p:txBody>
          <a:bodyPr wrap="square" rtlCol="0" anchor="ctr"/>
          <a:lstStyle/>
          <a:p>
            <a:pPr marL="0" indent="0" algn="ctr">
              <a:buNone/>
            </a:pPr>
            <a:r>
              <a:rPr lang="en-US" sz="1800" b="1" dirty="0">
                <a:solidFill>
                  <a:srgbClr val="FFFFFF"/>
                </a:solidFill>
              </a:rPr>
              <a:t>AI</a:t>
            </a:r>
            <a:endParaRPr lang="en-US" sz="1800" dirty="0"/>
          </a:p>
        </p:txBody>
      </p:sp>
      <p:sp>
        <p:nvSpPr>
          <p:cNvPr id="12" name="Text 10"/>
          <p:cNvSpPr/>
          <p:nvPr/>
        </p:nvSpPr>
        <p:spPr>
          <a:xfrm>
            <a:off x="411480" y="3218688"/>
            <a:ext cx="1810512" cy="347472"/>
          </a:xfrm>
          <a:prstGeom prst="rect">
            <a:avLst/>
          </a:prstGeom>
          <a:noFill/>
          <a:ln/>
        </p:spPr>
        <p:txBody>
          <a:bodyPr wrap="square" rtlCol="0" anchor="ctr"/>
          <a:lstStyle/>
          <a:p>
            <a:pPr marL="0" indent="0" algn="ctr">
              <a:buNone/>
            </a:pPr>
            <a:r>
              <a:rPr lang="en-US" sz="1100" b="1" dirty="0">
                <a:solidFill>
                  <a:srgbClr val="374151"/>
                </a:solidFill>
              </a:rPr>
              <a:t>منصة رقمية ذكية</a:t>
            </a:r>
            <a:endParaRPr lang="en-US" sz="1100" dirty="0"/>
          </a:p>
        </p:txBody>
      </p:sp>
      <p:sp>
        <p:nvSpPr>
          <p:cNvPr id="13" name="Text 11"/>
          <p:cNvSpPr/>
          <p:nvPr/>
        </p:nvSpPr>
        <p:spPr>
          <a:xfrm>
            <a:off x="411480" y="3566160"/>
            <a:ext cx="1810512" cy="347472"/>
          </a:xfrm>
          <a:prstGeom prst="rect">
            <a:avLst/>
          </a:prstGeom>
          <a:noFill/>
          <a:ln/>
        </p:spPr>
        <p:txBody>
          <a:bodyPr wrap="square" rtlCol="0" anchor="ctr"/>
          <a:lstStyle/>
          <a:p>
            <a:pPr marL="0" indent="0" algn="ctr">
              <a:buNone/>
            </a:pPr>
            <a:r>
              <a:rPr lang="en-US" sz="950" dirty="0">
                <a:solidFill>
                  <a:srgbClr val="6B7280"/>
                </a:solidFill>
              </a:rPr>
              <a:t>Smart Digital Platform</a:t>
            </a:r>
            <a:endParaRPr lang="en-US" sz="950" dirty="0"/>
          </a:p>
        </p:txBody>
      </p:sp>
      <p:sp>
        <p:nvSpPr>
          <p:cNvPr id="14" name="Shape 12"/>
          <p:cNvSpPr/>
          <p:nvPr/>
        </p:nvSpPr>
        <p:spPr>
          <a:xfrm>
            <a:off x="822960" y="3950208"/>
            <a:ext cx="987552" cy="36576"/>
          </a:xfrm>
          <a:prstGeom prst="rect">
            <a:avLst/>
          </a:prstGeom>
          <a:solidFill>
            <a:srgbClr val="C9A228"/>
          </a:solidFill>
          <a:ln/>
        </p:spPr>
        <p:txBody>
          <a:bodyPr/>
          <a:lstStyle/>
          <a:p>
            <a:endParaRPr lang="en-US"/>
          </a:p>
        </p:txBody>
      </p:sp>
      <p:sp>
        <p:nvSpPr>
          <p:cNvPr id="15" name="Shape 13"/>
          <p:cNvSpPr/>
          <p:nvPr/>
        </p:nvSpPr>
        <p:spPr>
          <a:xfrm>
            <a:off x="2496312" y="2029968"/>
            <a:ext cx="1993392" cy="2606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2496312" y="2029968"/>
            <a:ext cx="1993392" cy="109728"/>
          </a:xfrm>
          <a:prstGeom prst="rect">
            <a:avLst/>
          </a:prstGeom>
          <a:solidFill>
            <a:srgbClr val="0D1F3C"/>
          </a:solidFill>
          <a:ln/>
        </p:spPr>
        <p:txBody>
          <a:bodyPr/>
          <a:lstStyle/>
          <a:p>
            <a:endParaRPr lang="en-US"/>
          </a:p>
        </p:txBody>
      </p:sp>
      <p:sp>
        <p:nvSpPr>
          <p:cNvPr id="17" name="Shape 15"/>
          <p:cNvSpPr/>
          <p:nvPr/>
        </p:nvSpPr>
        <p:spPr>
          <a:xfrm>
            <a:off x="3035808" y="2212848"/>
            <a:ext cx="914400" cy="914400"/>
          </a:xfrm>
          <a:prstGeom prst="ellipse">
            <a:avLst/>
          </a:prstGeom>
          <a:solidFill>
            <a:srgbClr val="0D1F3C"/>
          </a:solidFill>
          <a:ln/>
        </p:spPr>
        <p:txBody>
          <a:bodyPr/>
          <a:lstStyle/>
          <a:p>
            <a:endParaRPr lang="en-US"/>
          </a:p>
        </p:txBody>
      </p:sp>
      <p:sp>
        <p:nvSpPr>
          <p:cNvPr id="18" name="Text 16"/>
          <p:cNvSpPr/>
          <p:nvPr/>
        </p:nvSpPr>
        <p:spPr>
          <a:xfrm>
            <a:off x="3035808" y="2212848"/>
            <a:ext cx="914400" cy="914400"/>
          </a:xfrm>
          <a:prstGeom prst="rect">
            <a:avLst/>
          </a:prstGeom>
          <a:noFill/>
          <a:ln/>
        </p:spPr>
        <p:txBody>
          <a:bodyPr wrap="square" rtlCol="0" anchor="ctr"/>
          <a:lstStyle/>
          <a:p>
            <a:pPr marL="0" indent="0" algn="ctr">
              <a:buNone/>
            </a:pPr>
            <a:r>
              <a:rPr lang="en-US" sz="1800" b="1" dirty="0">
                <a:solidFill>
                  <a:srgbClr val="FFFFFF"/>
                </a:solidFill>
              </a:rPr>
              <a:t>AR</a:t>
            </a:r>
            <a:endParaRPr lang="en-US" sz="1800" dirty="0"/>
          </a:p>
          <a:p>
            <a:pPr marL="0" indent="0" algn="ctr">
              <a:buNone/>
            </a:pPr>
            <a:r>
              <a:rPr lang="en-US" sz="1800" b="1" dirty="0">
                <a:solidFill>
                  <a:srgbClr val="FFFFFF"/>
                </a:solidFill>
              </a:rPr>
              <a:t>EN</a:t>
            </a:r>
            <a:endParaRPr lang="en-US" sz="1800" dirty="0"/>
          </a:p>
        </p:txBody>
      </p:sp>
      <p:sp>
        <p:nvSpPr>
          <p:cNvPr id="19" name="Text 17"/>
          <p:cNvSpPr/>
          <p:nvPr/>
        </p:nvSpPr>
        <p:spPr>
          <a:xfrm>
            <a:off x="2587752" y="3218688"/>
            <a:ext cx="1810512" cy="347472"/>
          </a:xfrm>
          <a:prstGeom prst="rect">
            <a:avLst/>
          </a:prstGeom>
          <a:noFill/>
          <a:ln/>
        </p:spPr>
        <p:txBody>
          <a:bodyPr wrap="square" rtlCol="0" anchor="ctr"/>
          <a:lstStyle/>
          <a:p>
            <a:pPr marL="0" indent="0" algn="ctr">
              <a:buNone/>
            </a:pPr>
            <a:r>
              <a:rPr lang="en-US" sz="1100" b="1" dirty="0">
                <a:solidFill>
                  <a:srgbClr val="374151"/>
                </a:solidFill>
              </a:rPr>
              <a:t>ثنائي اللغة بالكامل</a:t>
            </a:r>
            <a:endParaRPr lang="en-US" sz="1100" dirty="0"/>
          </a:p>
        </p:txBody>
      </p:sp>
      <p:sp>
        <p:nvSpPr>
          <p:cNvPr id="20" name="Text 18"/>
          <p:cNvSpPr/>
          <p:nvPr/>
        </p:nvSpPr>
        <p:spPr>
          <a:xfrm>
            <a:off x="2587752" y="3566160"/>
            <a:ext cx="1810512" cy="347472"/>
          </a:xfrm>
          <a:prstGeom prst="rect">
            <a:avLst/>
          </a:prstGeom>
          <a:noFill/>
          <a:ln/>
        </p:spPr>
        <p:txBody>
          <a:bodyPr wrap="square" rtlCol="0" anchor="ctr"/>
          <a:lstStyle/>
          <a:p>
            <a:pPr marL="0" indent="0" algn="ctr">
              <a:buNone/>
            </a:pPr>
            <a:r>
              <a:rPr lang="en-US" sz="950" dirty="0">
                <a:solidFill>
                  <a:srgbClr val="6B7280"/>
                </a:solidFill>
              </a:rPr>
              <a:t>Fully Bilingual (AR/EN)</a:t>
            </a:r>
            <a:endParaRPr lang="en-US" sz="950" dirty="0"/>
          </a:p>
        </p:txBody>
      </p:sp>
      <p:sp>
        <p:nvSpPr>
          <p:cNvPr id="21" name="Shape 19"/>
          <p:cNvSpPr/>
          <p:nvPr/>
        </p:nvSpPr>
        <p:spPr>
          <a:xfrm>
            <a:off x="2999232" y="3950208"/>
            <a:ext cx="987552" cy="36576"/>
          </a:xfrm>
          <a:prstGeom prst="rect">
            <a:avLst/>
          </a:prstGeom>
          <a:solidFill>
            <a:srgbClr val="C9A228"/>
          </a:solidFill>
          <a:ln/>
        </p:spPr>
        <p:txBody>
          <a:bodyPr/>
          <a:lstStyle/>
          <a:p>
            <a:endParaRPr lang="en-US"/>
          </a:p>
        </p:txBody>
      </p:sp>
      <p:sp>
        <p:nvSpPr>
          <p:cNvPr id="22" name="Shape 20"/>
          <p:cNvSpPr/>
          <p:nvPr/>
        </p:nvSpPr>
        <p:spPr>
          <a:xfrm>
            <a:off x="4672584" y="2029968"/>
            <a:ext cx="1993392" cy="2606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4672584" y="2029968"/>
            <a:ext cx="1993392" cy="109728"/>
          </a:xfrm>
          <a:prstGeom prst="rect">
            <a:avLst/>
          </a:prstGeom>
          <a:solidFill>
            <a:srgbClr val="0B6B3A"/>
          </a:solidFill>
          <a:ln/>
        </p:spPr>
        <p:txBody>
          <a:bodyPr/>
          <a:lstStyle/>
          <a:p>
            <a:endParaRPr lang="en-US"/>
          </a:p>
        </p:txBody>
      </p:sp>
      <p:sp>
        <p:nvSpPr>
          <p:cNvPr id="24" name="Shape 22"/>
          <p:cNvSpPr/>
          <p:nvPr/>
        </p:nvSpPr>
        <p:spPr>
          <a:xfrm>
            <a:off x="5212080" y="2212848"/>
            <a:ext cx="914400" cy="914400"/>
          </a:xfrm>
          <a:prstGeom prst="ellipse">
            <a:avLst/>
          </a:prstGeom>
          <a:solidFill>
            <a:srgbClr val="0B6B3A"/>
          </a:solidFill>
          <a:ln/>
        </p:spPr>
        <p:txBody>
          <a:bodyPr/>
          <a:lstStyle/>
          <a:p>
            <a:endParaRPr lang="en-US"/>
          </a:p>
        </p:txBody>
      </p:sp>
      <p:sp>
        <p:nvSpPr>
          <p:cNvPr id="25" name="Text 23"/>
          <p:cNvSpPr/>
          <p:nvPr/>
        </p:nvSpPr>
        <p:spPr>
          <a:xfrm>
            <a:off x="5212080" y="2212848"/>
            <a:ext cx="914400" cy="914400"/>
          </a:xfrm>
          <a:prstGeom prst="rect">
            <a:avLst/>
          </a:prstGeom>
          <a:noFill/>
          <a:ln/>
        </p:spPr>
        <p:txBody>
          <a:bodyPr wrap="square" rtlCol="0" anchor="ctr"/>
          <a:lstStyle/>
          <a:p>
            <a:pPr marL="0" indent="0" algn="ctr">
              <a:buNone/>
            </a:pPr>
            <a:r>
              <a:rPr lang="en-US" sz="1800" b="1" dirty="0">
                <a:solidFill>
                  <a:srgbClr val="FFFFFF"/>
                </a:solidFill>
              </a:rPr>
              <a:t>SEC</a:t>
            </a:r>
            <a:endParaRPr lang="en-US" sz="1800" dirty="0"/>
          </a:p>
        </p:txBody>
      </p:sp>
      <p:sp>
        <p:nvSpPr>
          <p:cNvPr id="26" name="Text 24"/>
          <p:cNvSpPr/>
          <p:nvPr/>
        </p:nvSpPr>
        <p:spPr>
          <a:xfrm>
            <a:off x="4764024" y="3218688"/>
            <a:ext cx="1810512" cy="347472"/>
          </a:xfrm>
          <a:prstGeom prst="rect">
            <a:avLst/>
          </a:prstGeom>
          <a:noFill/>
          <a:ln/>
        </p:spPr>
        <p:txBody>
          <a:bodyPr wrap="square" rtlCol="0" anchor="ctr"/>
          <a:lstStyle/>
          <a:p>
            <a:pPr marL="0" indent="0" algn="ctr">
              <a:buNone/>
            </a:pPr>
            <a:r>
              <a:rPr lang="en-US" sz="1100" b="1" dirty="0">
                <a:solidFill>
                  <a:srgbClr val="374151"/>
                </a:solidFill>
              </a:rPr>
              <a:t>تقنية متطورة وآمنة</a:t>
            </a:r>
            <a:endParaRPr lang="en-US" sz="1100" dirty="0"/>
          </a:p>
        </p:txBody>
      </p:sp>
      <p:sp>
        <p:nvSpPr>
          <p:cNvPr id="27" name="Text 25"/>
          <p:cNvSpPr/>
          <p:nvPr/>
        </p:nvSpPr>
        <p:spPr>
          <a:xfrm>
            <a:off x="4764024" y="3566160"/>
            <a:ext cx="1810512" cy="347472"/>
          </a:xfrm>
          <a:prstGeom prst="rect">
            <a:avLst/>
          </a:prstGeom>
          <a:noFill/>
          <a:ln/>
        </p:spPr>
        <p:txBody>
          <a:bodyPr wrap="square" rtlCol="0" anchor="ctr"/>
          <a:lstStyle/>
          <a:p>
            <a:pPr marL="0" indent="0" algn="ctr">
              <a:buNone/>
            </a:pPr>
            <a:r>
              <a:rPr lang="en-US" sz="950" dirty="0">
                <a:solidFill>
                  <a:srgbClr val="6B7280"/>
                </a:solidFill>
              </a:rPr>
              <a:t>Advanced &amp; Secure Tech</a:t>
            </a:r>
            <a:endParaRPr lang="en-US" sz="950" dirty="0"/>
          </a:p>
        </p:txBody>
      </p:sp>
      <p:sp>
        <p:nvSpPr>
          <p:cNvPr id="28" name="Shape 26"/>
          <p:cNvSpPr/>
          <p:nvPr/>
        </p:nvSpPr>
        <p:spPr>
          <a:xfrm>
            <a:off x="5175504" y="3950208"/>
            <a:ext cx="987552" cy="36576"/>
          </a:xfrm>
          <a:prstGeom prst="rect">
            <a:avLst/>
          </a:prstGeom>
          <a:solidFill>
            <a:srgbClr val="C9A228"/>
          </a:solidFill>
          <a:ln/>
        </p:spPr>
        <p:txBody>
          <a:bodyPr/>
          <a:lstStyle/>
          <a:p>
            <a:endParaRPr lang="en-US"/>
          </a:p>
        </p:txBody>
      </p:sp>
      <p:sp>
        <p:nvSpPr>
          <p:cNvPr id="29" name="Shape 27"/>
          <p:cNvSpPr/>
          <p:nvPr/>
        </p:nvSpPr>
        <p:spPr>
          <a:xfrm>
            <a:off x="6848856" y="2029968"/>
            <a:ext cx="1993392" cy="2606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6848856" y="2029968"/>
            <a:ext cx="1993392" cy="109728"/>
          </a:xfrm>
          <a:prstGeom prst="rect">
            <a:avLst/>
          </a:prstGeom>
          <a:solidFill>
            <a:srgbClr val="0D1F3C"/>
          </a:solidFill>
          <a:ln/>
        </p:spPr>
        <p:txBody>
          <a:bodyPr/>
          <a:lstStyle/>
          <a:p>
            <a:endParaRPr lang="en-US"/>
          </a:p>
        </p:txBody>
      </p:sp>
      <p:sp>
        <p:nvSpPr>
          <p:cNvPr id="31" name="Shape 29"/>
          <p:cNvSpPr/>
          <p:nvPr/>
        </p:nvSpPr>
        <p:spPr>
          <a:xfrm>
            <a:off x="7388352" y="2212848"/>
            <a:ext cx="914400" cy="914400"/>
          </a:xfrm>
          <a:prstGeom prst="ellipse">
            <a:avLst/>
          </a:prstGeom>
          <a:solidFill>
            <a:srgbClr val="0D1F3C"/>
          </a:solidFill>
          <a:ln/>
        </p:spPr>
        <p:txBody>
          <a:bodyPr/>
          <a:lstStyle/>
          <a:p>
            <a:endParaRPr lang="en-US"/>
          </a:p>
        </p:txBody>
      </p:sp>
      <p:sp>
        <p:nvSpPr>
          <p:cNvPr id="32" name="Text 30"/>
          <p:cNvSpPr/>
          <p:nvPr/>
        </p:nvSpPr>
        <p:spPr>
          <a:xfrm>
            <a:off x="7388352" y="2212848"/>
            <a:ext cx="914400" cy="914400"/>
          </a:xfrm>
          <a:prstGeom prst="rect">
            <a:avLst/>
          </a:prstGeom>
          <a:noFill/>
          <a:ln/>
        </p:spPr>
        <p:txBody>
          <a:bodyPr wrap="square" rtlCol="0" anchor="ctr"/>
          <a:lstStyle/>
          <a:p>
            <a:pPr marL="0" indent="0" algn="ctr">
              <a:buNone/>
            </a:pPr>
            <a:r>
              <a:rPr lang="en-US" sz="1800" b="1" dirty="0">
                <a:solidFill>
                  <a:srgbClr val="FFFFFF"/>
                </a:solidFill>
              </a:rPr>
              <a:t>X10</a:t>
            </a:r>
            <a:endParaRPr lang="en-US" sz="1800" dirty="0"/>
          </a:p>
        </p:txBody>
      </p:sp>
      <p:sp>
        <p:nvSpPr>
          <p:cNvPr id="33" name="Text 31"/>
          <p:cNvSpPr/>
          <p:nvPr/>
        </p:nvSpPr>
        <p:spPr>
          <a:xfrm>
            <a:off x="6940296" y="3218688"/>
            <a:ext cx="1810512" cy="347472"/>
          </a:xfrm>
          <a:prstGeom prst="rect">
            <a:avLst/>
          </a:prstGeom>
          <a:noFill/>
          <a:ln/>
        </p:spPr>
        <p:txBody>
          <a:bodyPr wrap="square" rtlCol="0" anchor="ctr"/>
          <a:lstStyle/>
          <a:p>
            <a:pPr marL="0" indent="0" algn="ctr">
              <a:buNone/>
            </a:pPr>
            <a:r>
              <a:rPr lang="en-US" sz="1100" b="1" dirty="0">
                <a:solidFill>
                  <a:srgbClr val="374151"/>
                </a:solidFill>
              </a:rPr>
              <a:t>قابل للتوسع والنمو</a:t>
            </a:r>
            <a:endParaRPr lang="en-US" sz="1100" dirty="0"/>
          </a:p>
        </p:txBody>
      </p:sp>
      <p:sp>
        <p:nvSpPr>
          <p:cNvPr id="34" name="Text 32"/>
          <p:cNvSpPr/>
          <p:nvPr/>
        </p:nvSpPr>
        <p:spPr>
          <a:xfrm>
            <a:off x="6940296" y="3566160"/>
            <a:ext cx="1810512" cy="347472"/>
          </a:xfrm>
          <a:prstGeom prst="rect">
            <a:avLst/>
          </a:prstGeom>
          <a:noFill/>
          <a:ln/>
        </p:spPr>
        <p:txBody>
          <a:bodyPr wrap="square" rtlCol="0" anchor="ctr"/>
          <a:lstStyle/>
          <a:p>
            <a:pPr marL="0" indent="0" algn="ctr">
              <a:buNone/>
            </a:pPr>
            <a:r>
              <a:rPr lang="en-US" sz="950" dirty="0">
                <a:solidFill>
                  <a:srgbClr val="6B7280"/>
                </a:solidFill>
              </a:rPr>
              <a:t>Scalable &amp; Growth-Ready</a:t>
            </a:r>
            <a:endParaRPr lang="en-US" sz="950" dirty="0"/>
          </a:p>
        </p:txBody>
      </p:sp>
      <p:sp>
        <p:nvSpPr>
          <p:cNvPr id="35" name="Shape 33"/>
          <p:cNvSpPr/>
          <p:nvPr/>
        </p:nvSpPr>
        <p:spPr>
          <a:xfrm>
            <a:off x="7351776" y="3950208"/>
            <a:ext cx="987552" cy="36576"/>
          </a:xfrm>
          <a:prstGeom prst="rect">
            <a:avLst/>
          </a:prstGeom>
          <a:solidFill>
            <a:srgbClr val="C9A228"/>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فرصة السوق  |  Market Opportunity</a:t>
            </a:r>
            <a:endParaRPr lang="en-US" sz="2000" dirty="0"/>
          </a:p>
        </p:txBody>
      </p:sp>
      <p:sp>
        <p:nvSpPr>
          <p:cNvPr id="5" name="Shape 3"/>
          <p:cNvSpPr/>
          <p:nvPr/>
        </p:nvSpPr>
        <p:spPr>
          <a:xfrm>
            <a:off x="274320" y="896112"/>
            <a:ext cx="1993392" cy="1600200"/>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274320" y="960120"/>
            <a:ext cx="1993392" cy="777240"/>
          </a:xfrm>
          <a:prstGeom prst="rect">
            <a:avLst/>
          </a:prstGeom>
          <a:noFill/>
          <a:ln/>
        </p:spPr>
        <p:txBody>
          <a:bodyPr wrap="square" rtlCol="0" anchor="ctr"/>
          <a:lstStyle/>
          <a:p>
            <a:pPr marL="0" indent="0" algn="ctr">
              <a:buNone/>
            </a:pPr>
            <a:r>
              <a:rPr lang="en-US" sz="2800" b="1" dirty="0">
                <a:solidFill>
                  <a:srgbClr val="FFFFFF"/>
                </a:solidFill>
              </a:rPr>
              <a:t>+40M</a:t>
            </a:r>
            <a:endParaRPr lang="en-US" sz="2800" dirty="0"/>
          </a:p>
        </p:txBody>
      </p:sp>
      <p:sp>
        <p:nvSpPr>
          <p:cNvPr id="7" name="Text 5"/>
          <p:cNvSpPr/>
          <p:nvPr/>
        </p:nvSpPr>
        <p:spPr>
          <a:xfrm>
            <a:off x="347472" y="1737360"/>
            <a:ext cx="1847088" cy="658368"/>
          </a:xfrm>
          <a:prstGeom prst="rect">
            <a:avLst/>
          </a:prstGeom>
          <a:noFill/>
          <a:ln/>
        </p:spPr>
        <p:txBody>
          <a:bodyPr wrap="square" rtlCol="0" anchor="t"/>
          <a:lstStyle/>
          <a:p>
            <a:pPr marL="0" indent="0" algn="ctr">
              <a:buNone/>
            </a:pPr>
            <a:r>
              <a:rPr lang="en-US" sz="900" dirty="0">
                <a:solidFill>
                  <a:srgbClr val="D0E8FF"/>
                </a:solidFill>
              </a:rPr>
              <a:t>مستخدم رقمي</a:t>
            </a:r>
            <a:endParaRPr lang="en-US" sz="900" dirty="0"/>
          </a:p>
          <a:p>
            <a:pPr marL="0" indent="0" algn="ctr">
              <a:buNone/>
            </a:pPr>
            <a:r>
              <a:rPr lang="en-US" sz="900" dirty="0">
                <a:solidFill>
                  <a:srgbClr val="D0E8FF"/>
                </a:solidFill>
              </a:rPr>
              <a:t>Digital Users (KSA)</a:t>
            </a:r>
            <a:endParaRPr lang="en-US" sz="900" dirty="0"/>
          </a:p>
        </p:txBody>
      </p:sp>
      <p:sp>
        <p:nvSpPr>
          <p:cNvPr id="8" name="Shape 6"/>
          <p:cNvSpPr/>
          <p:nvPr/>
        </p:nvSpPr>
        <p:spPr>
          <a:xfrm>
            <a:off x="2450592" y="896112"/>
            <a:ext cx="1993392" cy="1600200"/>
          </a:xfrm>
          <a:prstGeom prst="rect">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2450592" y="960120"/>
            <a:ext cx="1993392" cy="777240"/>
          </a:xfrm>
          <a:prstGeom prst="rect">
            <a:avLst/>
          </a:prstGeom>
          <a:noFill/>
          <a:ln/>
        </p:spPr>
        <p:txBody>
          <a:bodyPr wrap="square" rtlCol="0" anchor="ctr"/>
          <a:lstStyle/>
          <a:p>
            <a:pPr marL="0" indent="0" algn="ctr">
              <a:buNone/>
            </a:pPr>
            <a:r>
              <a:rPr lang="en-US" sz="2800" b="1" dirty="0">
                <a:solidFill>
                  <a:srgbClr val="FFFFFF"/>
                </a:solidFill>
              </a:rPr>
              <a:t>$1.1T</a:t>
            </a:r>
            <a:endParaRPr lang="en-US" sz="2800" dirty="0"/>
          </a:p>
        </p:txBody>
      </p:sp>
      <p:sp>
        <p:nvSpPr>
          <p:cNvPr id="10" name="Text 8"/>
          <p:cNvSpPr/>
          <p:nvPr/>
        </p:nvSpPr>
        <p:spPr>
          <a:xfrm>
            <a:off x="2523744" y="1737360"/>
            <a:ext cx="1847088" cy="658368"/>
          </a:xfrm>
          <a:prstGeom prst="rect">
            <a:avLst/>
          </a:prstGeom>
          <a:noFill/>
          <a:ln/>
        </p:spPr>
        <p:txBody>
          <a:bodyPr wrap="square" rtlCol="0" anchor="t"/>
          <a:lstStyle/>
          <a:p>
            <a:pPr marL="0" indent="0" algn="ctr">
              <a:buNone/>
            </a:pPr>
            <a:r>
              <a:rPr lang="en-US" sz="900" dirty="0">
                <a:solidFill>
                  <a:srgbClr val="D0E8FF"/>
                </a:solidFill>
              </a:rPr>
              <a:t>الناتج المحلي</a:t>
            </a:r>
            <a:endParaRPr lang="en-US" sz="900" dirty="0"/>
          </a:p>
          <a:p>
            <a:pPr marL="0" indent="0" algn="ctr">
              <a:buNone/>
            </a:pPr>
            <a:r>
              <a:rPr lang="en-US" sz="900" dirty="0">
                <a:solidFill>
                  <a:srgbClr val="D0E8FF"/>
                </a:solidFill>
              </a:rPr>
              <a:t>KSA GDP (2030 Target)</a:t>
            </a:r>
            <a:endParaRPr lang="en-US" sz="900" dirty="0"/>
          </a:p>
        </p:txBody>
      </p:sp>
      <p:sp>
        <p:nvSpPr>
          <p:cNvPr id="11" name="Shape 9"/>
          <p:cNvSpPr/>
          <p:nvPr/>
        </p:nvSpPr>
        <p:spPr>
          <a:xfrm>
            <a:off x="4626864" y="896112"/>
            <a:ext cx="1993392" cy="1600200"/>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626864" y="960120"/>
            <a:ext cx="1993392" cy="777240"/>
          </a:xfrm>
          <a:prstGeom prst="rect">
            <a:avLst/>
          </a:prstGeom>
          <a:noFill/>
          <a:ln/>
        </p:spPr>
        <p:txBody>
          <a:bodyPr wrap="square" rtlCol="0" anchor="ctr"/>
          <a:lstStyle/>
          <a:p>
            <a:pPr marL="0" indent="0" algn="ctr">
              <a:buNone/>
            </a:pPr>
            <a:r>
              <a:rPr lang="en-US" sz="2800" b="1" dirty="0">
                <a:solidFill>
                  <a:srgbClr val="FFFFFF"/>
                </a:solidFill>
              </a:rPr>
              <a:t>70%</a:t>
            </a:r>
            <a:endParaRPr lang="en-US" sz="2800" dirty="0"/>
          </a:p>
        </p:txBody>
      </p:sp>
      <p:sp>
        <p:nvSpPr>
          <p:cNvPr id="13" name="Text 11"/>
          <p:cNvSpPr/>
          <p:nvPr/>
        </p:nvSpPr>
        <p:spPr>
          <a:xfrm>
            <a:off x="4700016" y="1737360"/>
            <a:ext cx="1847088" cy="658368"/>
          </a:xfrm>
          <a:prstGeom prst="rect">
            <a:avLst/>
          </a:prstGeom>
          <a:noFill/>
          <a:ln/>
        </p:spPr>
        <p:txBody>
          <a:bodyPr wrap="square" rtlCol="0" anchor="t"/>
          <a:lstStyle/>
          <a:p>
            <a:pPr marL="0" indent="0" algn="ctr">
              <a:buNone/>
            </a:pPr>
            <a:r>
              <a:rPr lang="en-US" sz="900" dirty="0">
                <a:solidFill>
                  <a:srgbClr val="FFFFFF"/>
                </a:solidFill>
              </a:rPr>
              <a:t>نسبة شباب التقنية</a:t>
            </a:r>
            <a:endParaRPr lang="en-US" sz="900" dirty="0"/>
          </a:p>
          <a:p>
            <a:pPr marL="0" indent="0" algn="ctr">
              <a:buNone/>
            </a:pPr>
            <a:r>
              <a:rPr lang="en-US" sz="900" dirty="0">
                <a:solidFill>
                  <a:srgbClr val="FFFFFF"/>
                </a:solidFill>
              </a:rPr>
              <a:t>Youth Tech Adoption</a:t>
            </a:r>
            <a:endParaRPr lang="en-US" sz="900" dirty="0"/>
          </a:p>
        </p:txBody>
      </p:sp>
      <p:sp>
        <p:nvSpPr>
          <p:cNvPr id="14" name="Shape 12"/>
          <p:cNvSpPr/>
          <p:nvPr/>
        </p:nvSpPr>
        <p:spPr>
          <a:xfrm>
            <a:off x="6803136" y="896112"/>
            <a:ext cx="1993392" cy="1600200"/>
          </a:xfrm>
          <a:prstGeom prst="rect">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6803136" y="960120"/>
            <a:ext cx="1993392" cy="777240"/>
          </a:xfrm>
          <a:prstGeom prst="rect">
            <a:avLst/>
          </a:prstGeom>
          <a:noFill/>
          <a:ln/>
        </p:spPr>
        <p:txBody>
          <a:bodyPr wrap="square" rtlCol="0" anchor="ctr"/>
          <a:lstStyle/>
          <a:p>
            <a:pPr marL="0" indent="0" algn="ctr">
              <a:buNone/>
            </a:pPr>
            <a:r>
              <a:rPr lang="en-US" sz="2800" b="1" dirty="0">
                <a:solidFill>
                  <a:srgbClr val="FFFFFF"/>
                </a:solidFill>
              </a:rPr>
              <a:t>SAR 4B+</a:t>
            </a:r>
            <a:endParaRPr lang="en-US" sz="2800" dirty="0"/>
          </a:p>
        </p:txBody>
      </p:sp>
      <p:sp>
        <p:nvSpPr>
          <p:cNvPr id="16" name="Text 14"/>
          <p:cNvSpPr/>
          <p:nvPr/>
        </p:nvSpPr>
        <p:spPr>
          <a:xfrm>
            <a:off x="6876288" y="1737360"/>
            <a:ext cx="1847088" cy="658368"/>
          </a:xfrm>
          <a:prstGeom prst="rect">
            <a:avLst/>
          </a:prstGeom>
          <a:noFill/>
          <a:ln/>
        </p:spPr>
        <p:txBody>
          <a:bodyPr wrap="square" rtlCol="0" anchor="t"/>
          <a:lstStyle/>
          <a:p>
            <a:pPr marL="0" indent="0" algn="ctr">
              <a:buNone/>
            </a:pPr>
            <a:r>
              <a:rPr lang="en-US" sz="900" dirty="0">
                <a:solidFill>
                  <a:srgbClr val="D0E8FF"/>
                </a:solidFill>
              </a:rPr>
              <a:t>حجم سوق التقنية</a:t>
            </a:r>
            <a:endParaRPr lang="en-US" sz="900" dirty="0"/>
          </a:p>
          <a:p>
            <a:pPr marL="0" indent="0" algn="ctr">
              <a:buNone/>
            </a:pPr>
            <a:r>
              <a:rPr lang="en-US" sz="900" dirty="0">
                <a:solidFill>
                  <a:srgbClr val="D0E8FF"/>
                </a:solidFill>
              </a:rPr>
              <a:t>Tech Market Size KSA</a:t>
            </a:r>
            <a:endParaRPr lang="en-US" sz="900" dirty="0"/>
          </a:p>
        </p:txBody>
      </p:sp>
      <p:graphicFrame>
        <p:nvGraphicFramePr>
          <p:cNvPr id="17" name="Chart 0"/>
          <p:cNvGraphicFramePr/>
          <p:nvPr/>
        </p:nvGraphicFramePr>
        <p:xfrm>
          <a:off x="365760" y="2651760"/>
          <a:ext cx="8412480" cy="2194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6B3A"/>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نموذج الأعمال  |  Business Model</a:t>
            </a:r>
            <a:endParaRPr lang="en-US" sz="2000" dirty="0"/>
          </a:p>
        </p:txBody>
      </p:sp>
      <p:sp>
        <p:nvSpPr>
          <p:cNvPr id="5" name="Shape 3"/>
          <p:cNvSpPr/>
          <p:nvPr/>
        </p:nvSpPr>
        <p:spPr>
          <a:xfrm>
            <a:off x="274320" y="914400"/>
            <a:ext cx="2697480"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914400"/>
            <a:ext cx="2697480" cy="128016"/>
          </a:xfrm>
          <a:prstGeom prst="rect">
            <a:avLst/>
          </a:prstGeom>
          <a:solidFill>
            <a:srgbClr val="0B6B3A"/>
          </a:solidFill>
          <a:ln/>
        </p:spPr>
        <p:txBody>
          <a:bodyPr/>
          <a:lstStyle/>
          <a:p>
            <a:endParaRPr lang="en-US"/>
          </a:p>
        </p:txBody>
      </p:sp>
      <p:sp>
        <p:nvSpPr>
          <p:cNvPr id="7" name="Shape 5"/>
          <p:cNvSpPr/>
          <p:nvPr/>
        </p:nvSpPr>
        <p:spPr>
          <a:xfrm>
            <a:off x="1161288" y="1143000"/>
            <a:ext cx="914400" cy="822960"/>
          </a:xfrm>
          <a:prstGeom prst="ellipse">
            <a:avLst/>
          </a:prstGeom>
          <a:solidFill>
            <a:srgbClr val="0B6B3A"/>
          </a:solidFill>
          <a:ln/>
        </p:spPr>
        <p:txBody>
          <a:bodyPr/>
          <a:lstStyle/>
          <a:p>
            <a:endParaRPr lang="en-US"/>
          </a:p>
        </p:txBody>
      </p:sp>
      <p:sp>
        <p:nvSpPr>
          <p:cNvPr id="8" name="Text 6"/>
          <p:cNvSpPr/>
          <p:nvPr/>
        </p:nvSpPr>
        <p:spPr>
          <a:xfrm>
            <a:off x="1161288" y="1143000"/>
            <a:ext cx="914400" cy="822960"/>
          </a:xfrm>
          <a:prstGeom prst="rect">
            <a:avLst/>
          </a:prstGeom>
          <a:noFill/>
          <a:ln/>
        </p:spPr>
        <p:txBody>
          <a:bodyPr wrap="square" rtlCol="0" anchor="ctr"/>
          <a:lstStyle/>
          <a:p>
            <a:pPr marL="0" indent="0" algn="ctr">
              <a:buNone/>
            </a:pPr>
            <a:r>
              <a:rPr lang="en-US" sz="1800" b="1" dirty="0">
                <a:solidFill>
                  <a:srgbClr val="FFFFFF"/>
                </a:solidFill>
              </a:rPr>
              <a:t>SUB</a:t>
            </a:r>
            <a:endParaRPr lang="en-US" sz="1800" dirty="0"/>
          </a:p>
        </p:txBody>
      </p:sp>
      <p:sp>
        <p:nvSpPr>
          <p:cNvPr id="9" name="Shape 7"/>
          <p:cNvSpPr/>
          <p:nvPr/>
        </p:nvSpPr>
        <p:spPr>
          <a:xfrm>
            <a:off x="1097280" y="1938528"/>
            <a:ext cx="1051560" cy="640080"/>
          </a:xfrm>
          <a:prstGeom prst="ellipse">
            <a:avLst/>
          </a:prstGeom>
          <a:solidFill>
            <a:srgbClr val="0B6B3A"/>
          </a:solidFill>
          <a:ln/>
        </p:spPr>
        <p:txBody>
          <a:bodyPr/>
          <a:lstStyle/>
          <a:p>
            <a:endParaRPr lang="en-US"/>
          </a:p>
        </p:txBody>
      </p:sp>
      <p:sp>
        <p:nvSpPr>
          <p:cNvPr id="10" name="Text 8"/>
          <p:cNvSpPr/>
          <p:nvPr/>
        </p:nvSpPr>
        <p:spPr>
          <a:xfrm>
            <a:off x="1097280" y="1938528"/>
            <a:ext cx="1051560" cy="640080"/>
          </a:xfrm>
          <a:prstGeom prst="rect">
            <a:avLst/>
          </a:prstGeom>
          <a:noFill/>
          <a:ln/>
        </p:spPr>
        <p:txBody>
          <a:bodyPr wrap="square" rtlCol="0" anchor="ctr"/>
          <a:lstStyle/>
          <a:p>
            <a:pPr marL="0" indent="0" algn="ctr">
              <a:buNone/>
            </a:pPr>
            <a:r>
              <a:rPr lang="en-US" sz="1600" b="1" dirty="0">
                <a:solidFill>
                  <a:srgbClr val="FFFFFF"/>
                </a:solidFill>
              </a:rPr>
              <a:t>40%</a:t>
            </a:r>
            <a:endParaRPr lang="en-US" sz="1600" dirty="0"/>
          </a:p>
        </p:txBody>
      </p:sp>
      <p:sp>
        <p:nvSpPr>
          <p:cNvPr id="11" name="Text 9"/>
          <p:cNvSpPr/>
          <p:nvPr/>
        </p:nvSpPr>
        <p:spPr>
          <a:xfrm>
            <a:off x="365760" y="2670048"/>
            <a:ext cx="2514600" cy="320040"/>
          </a:xfrm>
          <a:prstGeom prst="rect">
            <a:avLst/>
          </a:prstGeom>
          <a:noFill/>
          <a:ln/>
        </p:spPr>
        <p:txBody>
          <a:bodyPr wrap="square" rtlCol="0" anchor="ctr"/>
          <a:lstStyle/>
          <a:p>
            <a:pPr marL="0" indent="0" algn="ctr">
              <a:buNone/>
            </a:pPr>
            <a:r>
              <a:rPr lang="en-US" sz="1200" b="1" dirty="0">
                <a:solidFill>
                  <a:srgbClr val="374151"/>
                </a:solidFill>
              </a:rPr>
              <a:t>الاشتراكات</a:t>
            </a:r>
            <a:endParaRPr lang="en-US" sz="1200" dirty="0"/>
          </a:p>
        </p:txBody>
      </p:sp>
      <p:sp>
        <p:nvSpPr>
          <p:cNvPr id="12" name="Text 10"/>
          <p:cNvSpPr/>
          <p:nvPr/>
        </p:nvSpPr>
        <p:spPr>
          <a:xfrm>
            <a:off x="365760" y="2971800"/>
            <a:ext cx="2514600" cy="256032"/>
          </a:xfrm>
          <a:prstGeom prst="rect">
            <a:avLst/>
          </a:prstGeom>
          <a:noFill/>
          <a:ln/>
        </p:spPr>
        <p:txBody>
          <a:bodyPr wrap="square" rtlCol="0" anchor="ctr"/>
          <a:lstStyle/>
          <a:p>
            <a:pPr marL="0" indent="0" algn="ctr">
              <a:buNone/>
            </a:pPr>
            <a:r>
              <a:rPr lang="en-US" sz="1000" dirty="0">
                <a:solidFill>
                  <a:srgbClr val="6B7280"/>
                </a:solidFill>
              </a:rPr>
              <a:t>Subscriptions</a:t>
            </a:r>
            <a:endParaRPr lang="en-US" sz="1000" dirty="0"/>
          </a:p>
        </p:txBody>
      </p:sp>
      <p:sp>
        <p:nvSpPr>
          <p:cNvPr id="13" name="Text 11"/>
          <p:cNvSpPr/>
          <p:nvPr/>
        </p:nvSpPr>
        <p:spPr>
          <a:xfrm>
            <a:off x="411480" y="3291840"/>
            <a:ext cx="2423160" cy="1234440"/>
          </a:xfrm>
          <a:prstGeom prst="rect">
            <a:avLst/>
          </a:prstGeom>
          <a:noFill/>
          <a:ln/>
        </p:spPr>
        <p:txBody>
          <a:bodyPr wrap="square" rtlCol="0" anchor="ctr"/>
          <a:lstStyle/>
          <a:p>
            <a:pPr marL="0" indent="0" algn="ctr">
              <a:buNone/>
            </a:pPr>
            <a:r>
              <a:rPr lang="en-US" sz="900" dirty="0">
                <a:solidFill>
                  <a:srgbClr val="6B7280"/>
                </a:solidFill>
              </a:rPr>
              <a:t>نماذج اشتراك شهرية وسنوية للأفراد والشركات</a:t>
            </a:r>
            <a:endParaRPr lang="en-US" sz="900" dirty="0"/>
          </a:p>
          <a:p>
            <a:pPr marL="0" indent="0" algn="ctr">
              <a:buNone/>
            </a:pPr>
            <a:r>
              <a:rPr lang="en-US" sz="900" dirty="0">
                <a:solidFill>
                  <a:srgbClr val="6B7280"/>
                </a:solidFill>
              </a:rPr>
              <a:t>Monthly &amp; annual subscription plans for individuals and businesses.</a:t>
            </a:r>
            <a:endParaRPr lang="en-US" sz="900" dirty="0"/>
          </a:p>
        </p:txBody>
      </p:sp>
      <p:sp>
        <p:nvSpPr>
          <p:cNvPr id="14" name="Shape 12"/>
          <p:cNvSpPr/>
          <p:nvPr/>
        </p:nvSpPr>
        <p:spPr>
          <a:xfrm>
            <a:off x="3246120" y="914400"/>
            <a:ext cx="2697480"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246120" y="914400"/>
            <a:ext cx="2697480" cy="128016"/>
          </a:xfrm>
          <a:prstGeom prst="rect">
            <a:avLst/>
          </a:prstGeom>
          <a:solidFill>
            <a:srgbClr val="0D1F3C"/>
          </a:solidFill>
          <a:ln/>
        </p:spPr>
        <p:txBody>
          <a:bodyPr/>
          <a:lstStyle/>
          <a:p>
            <a:endParaRPr lang="en-US"/>
          </a:p>
        </p:txBody>
      </p:sp>
      <p:sp>
        <p:nvSpPr>
          <p:cNvPr id="16" name="Shape 14"/>
          <p:cNvSpPr/>
          <p:nvPr/>
        </p:nvSpPr>
        <p:spPr>
          <a:xfrm>
            <a:off x="4133088" y="1143000"/>
            <a:ext cx="914400" cy="822960"/>
          </a:xfrm>
          <a:prstGeom prst="ellipse">
            <a:avLst/>
          </a:prstGeom>
          <a:solidFill>
            <a:srgbClr val="0D1F3C"/>
          </a:solidFill>
          <a:ln/>
        </p:spPr>
        <p:txBody>
          <a:bodyPr/>
          <a:lstStyle/>
          <a:p>
            <a:endParaRPr lang="en-US"/>
          </a:p>
        </p:txBody>
      </p:sp>
      <p:sp>
        <p:nvSpPr>
          <p:cNvPr id="17" name="Text 15"/>
          <p:cNvSpPr/>
          <p:nvPr/>
        </p:nvSpPr>
        <p:spPr>
          <a:xfrm>
            <a:off x="4133088" y="1143000"/>
            <a:ext cx="914400" cy="822960"/>
          </a:xfrm>
          <a:prstGeom prst="rect">
            <a:avLst/>
          </a:prstGeom>
          <a:noFill/>
          <a:ln/>
        </p:spPr>
        <p:txBody>
          <a:bodyPr wrap="square" rtlCol="0" anchor="ctr"/>
          <a:lstStyle/>
          <a:p>
            <a:pPr marL="0" indent="0" algn="ctr">
              <a:buNone/>
            </a:pPr>
            <a:r>
              <a:rPr lang="en-US" sz="1800" b="1" dirty="0">
                <a:solidFill>
                  <a:srgbClr val="FFFFFF"/>
                </a:solidFill>
              </a:rPr>
              <a:t>ENT</a:t>
            </a:r>
            <a:endParaRPr lang="en-US" sz="1800" dirty="0"/>
          </a:p>
        </p:txBody>
      </p:sp>
      <p:sp>
        <p:nvSpPr>
          <p:cNvPr id="18" name="Shape 16"/>
          <p:cNvSpPr/>
          <p:nvPr/>
        </p:nvSpPr>
        <p:spPr>
          <a:xfrm>
            <a:off x="4069080" y="1938528"/>
            <a:ext cx="1051560" cy="640080"/>
          </a:xfrm>
          <a:prstGeom prst="ellipse">
            <a:avLst/>
          </a:prstGeom>
          <a:solidFill>
            <a:srgbClr val="0D1F3C"/>
          </a:solidFill>
          <a:ln/>
        </p:spPr>
        <p:txBody>
          <a:bodyPr/>
          <a:lstStyle/>
          <a:p>
            <a:endParaRPr lang="en-US"/>
          </a:p>
        </p:txBody>
      </p:sp>
      <p:sp>
        <p:nvSpPr>
          <p:cNvPr id="19" name="Text 17"/>
          <p:cNvSpPr/>
          <p:nvPr/>
        </p:nvSpPr>
        <p:spPr>
          <a:xfrm>
            <a:off x="4069080" y="1938528"/>
            <a:ext cx="1051560" cy="640080"/>
          </a:xfrm>
          <a:prstGeom prst="rect">
            <a:avLst/>
          </a:prstGeom>
          <a:noFill/>
          <a:ln/>
        </p:spPr>
        <p:txBody>
          <a:bodyPr wrap="square" rtlCol="0" anchor="ctr"/>
          <a:lstStyle/>
          <a:p>
            <a:pPr marL="0" indent="0" algn="ctr">
              <a:buNone/>
            </a:pPr>
            <a:r>
              <a:rPr lang="en-US" sz="1600" b="1" dirty="0">
                <a:solidFill>
                  <a:srgbClr val="FFFFFF"/>
                </a:solidFill>
              </a:rPr>
              <a:t>35%</a:t>
            </a:r>
            <a:endParaRPr lang="en-US" sz="1600" dirty="0"/>
          </a:p>
        </p:txBody>
      </p:sp>
      <p:sp>
        <p:nvSpPr>
          <p:cNvPr id="20" name="Text 18"/>
          <p:cNvSpPr/>
          <p:nvPr/>
        </p:nvSpPr>
        <p:spPr>
          <a:xfrm>
            <a:off x="3337560" y="2670048"/>
            <a:ext cx="2514600" cy="320040"/>
          </a:xfrm>
          <a:prstGeom prst="rect">
            <a:avLst/>
          </a:prstGeom>
          <a:noFill/>
          <a:ln/>
        </p:spPr>
        <p:txBody>
          <a:bodyPr wrap="square" rtlCol="0" anchor="ctr"/>
          <a:lstStyle/>
          <a:p>
            <a:pPr marL="0" indent="0" algn="ctr">
              <a:buNone/>
            </a:pPr>
            <a:r>
              <a:rPr lang="en-US" sz="1200" b="1" dirty="0">
                <a:solidFill>
                  <a:srgbClr val="374151"/>
                </a:solidFill>
              </a:rPr>
              <a:t>الشراكات المؤسسية</a:t>
            </a:r>
            <a:endParaRPr lang="en-US" sz="1200" dirty="0"/>
          </a:p>
        </p:txBody>
      </p:sp>
      <p:sp>
        <p:nvSpPr>
          <p:cNvPr id="21" name="Text 19"/>
          <p:cNvSpPr/>
          <p:nvPr/>
        </p:nvSpPr>
        <p:spPr>
          <a:xfrm>
            <a:off x="3337560" y="2971800"/>
            <a:ext cx="2514600" cy="256032"/>
          </a:xfrm>
          <a:prstGeom prst="rect">
            <a:avLst/>
          </a:prstGeom>
          <a:noFill/>
          <a:ln/>
        </p:spPr>
        <p:txBody>
          <a:bodyPr wrap="square" rtlCol="0" anchor="ctr"/>
          <a:lstStyle/>
          <a:p>
            <a:pPr marL="0" indent="0" algn="ctr">
              <a:buNone/>
            </a:pPr>
            <a:r>
              <a:rPr lang="en-US" sz="1000" dirty="0">
                <a:solidFill>
                  <a:srgbClr val="6B7280"/>
                </a:solidFill>
              </a:rPr>
              <a:t>Enterprise Partnerships</a:t>
            </a:r>
            <a:endParaRPr lang="en-US" sz="1000" dirty="0"/>
          </a:p>
        </p:txBody>
      </p:sp>
      <p:sp>
        <p:nvSpPr>
          <p:cNvPr id="22" name="Text 20"/>
          <p:cNvSpPr/>
          <p:nvPr/>
        </p:nvSpPr>
        <p:spPr>
          <a:xfrm>
            <a:off x="3383280" y="3291840"/>
            <a:ext cx="2423160" cy="1234440"/>
          </a:xfrm>
          <a:prstGeom prst="rect">
            <a:avLst/>
          </a:prstGeom>
          <a:noFill/>
          <a:ln/>
        </p:spPr>
        <p:txBody>
          <a:bodyPr wrap="square" rtlCol="0" anchor="ctr"/>
          <a:lstStyle/>
          <a:p>
            <a:pPr marL="0" indent="0" algn="ctr">
              <a:buNone/>
            </a:pPr>
            <a:r>
              <a:rPr lang="en-US" sz="900" dirty="0">
                <a:solidFill>
                  <a:srgbClr val="6B7280"/>
                </a:solidFill>
              </a:rPr>
              <a:t>عقود مع الشركات الكبرى والجهات الحكومية</a:t>
            </a:r>
            <a:endParaRPr lang="en-US" sz="900" dirty="0"/>
          </a:p>
          <a:p>
            <a:pPr marL="0" indent="0" algn="ctr">
              <a:buNone/>
            </a:pPr>
            <a:r>
              <a:rPr lang="en-US" sz="900" dirty="0">
                <a:solidFill>
                  <a:srgbClr val="6B7280"/>
                </a:solidFill>
              </a:rPr>
              <a:t>Contracts with large corporates and government entities.</a:t>
            </a:r>
            <a:endParaRPr lang="en-US" sz="900" dirty="0"/>
          </a:p>
        </p:txBody>
      </p:sp>
      <p:sp>
        <p:nvSpPr>
          <p:cNvPr id="23" name="Shape 21"/>
          <p:cNvSpPr/>
          <p:nvPr/>
        </p:nvSpPr>
        <p:spPr>
          <a:xfrm>
            <a:off x="6217920" y="914400"/>
            <a:ext cx="2697480"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6217920" y="914400"/>
            <a:ext cx="2697480" cy="128016"/>
          </a:xfrm>
          <a:prstGeom prst="rect">
            <a:avLst/>
          </a:prstGeom>
          <a:solidFill>
            <a:srgbClr val="C9A228"/>
          </a:solidFill>
          <a:ln/>
        </p:spPr>
        <p:txBody>
          <a:bodyPr/>
          <a:lstStyle/>
          <a:p>
            <a:endParaRPr lang="en-US"/>
          </a:p>
        </p:txBody>
      </p:sp>
      <p:sp>
        <p:nvSpPr>
          <p:cNvPr id="25" name="Shape 23"/>
          <p:cNvSpPr/>
          <p:nvPr/>
        </p:nvSpPr>
        <p:spPr>
          <a:xfrm>
            <a:off x="7104888" y="1143000"/>
            <a:ext cx="914400" cy="822960"/>
          </a:xfrm>
          <a:prstGeom prst="ellipse">
            <a:avLst/>
          </a:prstGeom>
          <a:solidFill>
            <a:srgbClr val="C9A228"/>
          </a:solidFill>
          <a:ln/>
        </p:spPr>
        <p:txBody>
          <a:bodyPr/>
          <a:lstStyle/>
          <a:p>
            <a:endParaRPr lang="en-US"/>
          </a:p>
        </p:txBody>
      </p:sp>
      <p:sp>
        <p:nvSpPr>
          <p:cNvPr id="26" name="Text 24"/>
          <p:cNvSpPr/>
          <p:nvPr/>
        </p:nvSpPr>
        <p:spPr>
          <a:xfrm>
            <a:off x="7104888" y="1143000"/>
            <a:ext cx="914400" cy="822960"/>
          </a:xfrm>
          <a:prstGeom prst="rect">
            <a:avLst/>
          </a:prstGeom>
          <a:noFill/>
          <a:ln/>
        </p:spPr>
        <p:txBody>
          <a:bodyPr wrap="square" rtlCol="0" anchor="ctr"/>
          <a:lstStyle/>
          <a:p>
            <a:pPr marL="0" indent="0" algn="ctr">
              <a:buNone/>
            </a:pPr>
            <a:r>
              <a:rPr lang="en-US" sz="1800" b="1" dirty="0">
                <a:solidFill>
                  <a:srgbClr val="FFFFFF"/>
                </a:solidFill>
              </a:rPr>
              <a:t>SVC</a:t>
            </a:r>
            <a:endParaRPr lang="en-US" sz="1800" dirty="0"/>
          </a:p>
        </p:txBody>
      </p:sp>
      <p:sp>
        <p:nvSpPr>
          <p:cNvPr id="27" name="Shape 25"/>
          <p:cNvSpPr/>
          <p:nvPr/>
        </p:nvSpPr>
        <p:spPr>
          <a:xfrm>
            <a:off x="7040880" y="1938528"/>
            <a:ext cx="1051560" cy="640080"/>
          </a:xfrm>
          <a:prstGeom prst="ellipse">
            <a:avLst/>
          </a:prstGeom>
          <a:solidFill>
            <a:srgbClr val="C9A228"/>
          </a:solidFill>
          <a:ln/>
        </p:spPr>
        <p:txBody>
          <a:bodyPr/>
          <a:lstStyle/>
          <a:p>
            <a:endParaRPr lang="en-US"/>
          </a:p>
        </p:txBody>
      </p:sp>
      <p:sp>
        <p:nvSpPr>
          <p:cNvPr id="28" name="Text 26"/>
          <p:cNvSpPr/>
          <p:nvPr/>
        </p:nvSpPr>
        <p:spPr>
          <a:xfrm>
            <a:off x="7040880" y="1938528"/>
            <a:ext cx="1051560" cy="640080"/>
          </a:xfrm>
          <a:prstGeom prst="rect">
            <a:avLst/>
          </a:prstGeom>
          <a:noFill/>
          <a:ln/>
        </p:spPr>
        <p:txBody>
          <a:bodyPr wrap="square" rtlCol="0" anchor="ctr"/>
          <a:lstStyle/>
          <a:p>
            <a:pPr marL="0" indent="0" algn="ctr">
              <a:buNone/>
            </a:pPr>
            <a:r>
              <a:rPr lang="en-US" sz="1600" b="1" dirty="0">
                <a:solidFill>
                  <a:srgbClr val="FFFFFF"/>
                </a:solidFill>
              </a:rPr>
              <a:t>25%</a:t>
            </a:r>
            <a:endParaRPr lang="en-US" sz="1600" dirty="0"/>
          </a:p>
        </p:txBody>
      </p:sp>
      <p:sp>
        <p:nvSpPr>
          <p:cNvPr id="29" name="Text 27"/>
          <p:cNvSpPr/>
          <p:nvPr/>
        </p:nvSpPr>
        <p:spPr>
          <a:xfrm>
            <a:off x="6309360" y="2670048"/>
            <a:ext cx="2514600" cy="320040"/>
          </a:xfrm>
          <a:prstGeom prst="rect">
            <a:avLst/>
          </a:prstGeom>
          <a:noFill/>
          <a:ln/>
        </p:spPr>
        <p:txBody>
          <a:bodyPr wrap="square" rtlCol="0" anchor="ctr"/>
          <a:lstStyle/>
          <a:p>
            <a:pPr marL="0" indent="0" algn="ctr">
              <a:buNone/>
            </a:pPr>
            <a:r>
              <a:rPr lang="en-US" sz="1200" b="1" dirty="0">
                <a:solidFill>
                  <a:srgbClr val="374151"/>
                </a:solidFill>
              </a:rPr>
              <a:t>الخدمات الإضافية</a:t>
            </a:r>
            <a:endParaRPr lang="en-US" sz="1200" dirty="0"/>
          </a:p>
        </p:txBody>
      </p:sp>
      <p:sp>
        <p:nvSpPr>
          <p:cNvPr id="30" name="Text 28"/>
          <p:cNvSpPr/>
          <p:nvPr/>
        </p:nvSpPr>
        <p:spPr>
          <a:xfrm>
            <a:off x="6309360" y="2971800"/>
            <a:ext cx="2514600" cy="256032"/>
          </a:xfrm>
          <a:prstGeom prst="rect">
            <a:avLst/>
          </a:prstGeom>
          <a:noFill/>
          <a:ln/>
        </p:spPr>
        <p:txBody>
          <a:bodyPr wrap="square" rtlCol="0" anchor="ctr"/>
          <a:lstStyle/>
          <a:p>
            <a:pPr marL="0" indent="0" algn="ctr">
              <a:buNone/>
            </a:pPr>
            <a:r>
              <a:rPr lang="en-US" sz="1000" dirty="0">
                <a:solidFill>
                  <a:srgbClr val="6B7280"/>
                </a:solidFill>
              </a:rPr>
              <a:t>Add-on Services</a:t>
            </a:r>
            <a:endParaRPr lang="en-US" sz="1000" dirty="0"/>
          </a:p>
        </p:txBody>
      </p:sp>
      <p:sp>
        <p:nvSpPr>
          <p:cNvPr id="31" name="Text 29"/>
          <p:cNvSpPr/>
          <p:nvPr/>
        </p:nvSpPr>
        <p:spPr>
          <a:xfrm>
            <a:off x="6355080" y="3291840"/>
            <a:ext cx="2423160" cy="1234440"/>
          </a:xfrm>
          <a:prstGeom prst="rect">
            <a:avLst/>
          </a:prstGeom>
          <a:noFill/>
          <a:ln/>
        </p:spPr>
        <p:txBody>
          <a:bodyPr wrap="square" rtlCol="0" anchor="ctr"/>
          <a:lstStyle/>
          <a:p>
            <a:pPr marL="0" indent="0" algn="ctr">
              <a:buNone/>
            </a:pPr>
            <a:r>
              <a:rPr lang="en-US" sz="900" dirty="0">
                <a:solidFill>
                  <a:srgbClr val="6B7280"/>
                </a:solidFill>
              </a:rPr>
              <a:t>خدمات تخصيص وتدريب واستشارات</a:t>
            </a:r>
            <a:endParaRPr lang="en-US" sz="900" dirty="0"/>
          </a:p>
          <a:p>
            <a:pPr marL="0" indent="0" algn="ctr">
              <a:buNone/>
            </a:pPr>
            <a:r>
              <a:rPr lang="en-US" sz="900" dirty="0">
                <a:solidFill>
                  <a:srgbClr val="6B7280"/>
                </a:solidFill>
              </a:rPr>
              <a:t>Customization, training &amp; consulting services.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الإنجازات والمراحل  |  Traction &amp; Milestones</a:t>
            </a:r>
            <a:endParaRPr lang="en-US" sz="2000" dirty="0"/>
          </a:p>
        </p:txBody>
      </p:sp>
      <p:sp>
        <p:nvSpPr>
          <p:cNvPr id="5" name="Shape 3"/>
          <p:cNvSpPr/>
          <p:nvPr/>
        </p:nvSpPr>
        <p:spPr>
          <a:xfrm>
            <a:off x="457200" y="2743200"/>
            <a:ext cx="8229600" cy="54864"/>
          </a:xfrm>
          <a:prstGeom prst="rect">
            <a:avLst/>
          </a:prstGeom>
          <a:solidFill>
            <a:srgbClr val="0D1F3C"/>
          </a:solidFill>
          <a:ln/>
        </p:spPr>
        <p:txBody>
          <a:bodyPr/>
          <a:lstStyle/>
          <a:p>
            <a:endParaRPr lang="en-US"/>
          </a:p>
        </p:txBody>
      </p:sp>
      <p:sp>
        <p:nvSpPr>
          <p:cNvPr id="6" name="Shape 4"/>
          <p:cNvSpPr/>
          <p:nvPr/>
        </p:nvSpPr>
        <p:spPr>
          <a:xfrm>
            <a:off x="950976" y="2523744"/>
            <a:ext cx="438912" cy="438912"/>
          </a:xfrm>
          <a:prstGeom prst="ellipse">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950976" y="2523744"/>
            <a:ext cx="438912" cy="438912"/>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8" name="Shape 6"/>
          <p:cNvSpPr/>
          <p:nvPr/>
        </p:nvSpPr>
        <p:spPr>
          <a:xfrm>
            <a:off x="384048" y="914400"/>
            <a:ext cx="1664208" cy="1444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84048" y="914400"/>
            <a:ext cx="1664208" cy="91440"/>
          </a:xfrm>
          <a:prstGeom prst="rect">
            <a:avLst/>
          </a:prstGeom>
          <a:solidFill>
            <a:srgbClr val="0B6B3A"/>
          </a:solidFill>
          <a:ln/>
        </p:spPr>
        <p:txBody>
          <a:bodyPr/>
          <a:lstStyle/>
          <a:p>
            <a:endParaRPr lang="en-US"/>
          </a:p>
        </p:txBody>
      </p:sp>
      <p:sp>
        <p:nvSpPr>
          <p:cNvPr id="10" name="Text 8"/>
          <p:cNvSpPr/>
          <p:nvPr/>
        </p:nvSpPr>
        <p:spPr>
          <a:xfrm>
            <a:off x="429768" y="1024128"/>
            <a:ext cx="1572768" cy="256032"/>
          </a:xfrm>
          <a:prstGeom prst="rect">
            <a:avLst/>
          </a:prstGeom>
          <a:noFill/>
          <a:ln/>
        </p:spPr>
        <p:txBody>
          <a:bodyPr wrap="square" rtlCol="0" anchor="ctr"/>
          <a:lstStyle/>
          <a:p>
            <a:pPr marL="0" indent="0" algn="ctr">
              <a:buNone/>
            </a:pPr>
            <a:r>
              <a:rPr lang="en-US" sz="1000" b="1" dirty="0">
                <a:solidFill>
                  <a:srgbClr val="0B6B3A"/>
                </a:solidFill>
              </a:rPr>
              <a:t>Q1 2026</a:t>
            </a:r>
            <a:endParaRPr lang="en-US" sz="1000" dirty="0"/>
          </a:p>
        </p:txBody>
      </p:sp>
      <p:sp>
        <p:nvSpPr>
          <p:cNvPr id="11" name="Text 9"/>
          <p:cNvSpPr/>
          <p:nvPr/>
        </p:nvSpPr>
        <p:spPr>
          <a:xfrm>
            <a:off x="429768" y="1298448"/>
            <a:ext cx="1572768" cy="384048"/>
          </a:xfrm>
          <a:prstGeom prst="rect">
            <a:avLst/>
          </a:prstGeom>
          <a:noFill/>
          <a:ln/>
        </p:spPr>
        <p:txBody>
          <a:bodyPr wrap="square" rtlCol="0" anchor="ctr"/>
          <a:lstStyle/>
          <a:p>
            <a:pPr marL="0" indent="0" algn="ctr">
              <a:buNone/>
            </a:pPr>
            <a:r>
              <a:rPr lang="en-US" sz="850" b="1" dirty="0">
                <a:solidFill>
                  <a:srgbClr val="374151"/>
                </a:solidFill>
              </a:rPr>
              <a:t>إطلاق الفكرة وتشكيل الفريق</a:t>
            </a:r>
            <a:endParaRPr lang="en-US" sz="850" dirty="0"/>
          </a:p>
        </p:txBody>
      </p:sp>
      <p:sp>
        <p:nvSpPr>
          <p:cNvPr id="12" name="Text 10"/>
          <p:cNvSpPr/>
          <p:nvPr/>
        </p:nvSpPr>
        <p:spPr>
          <a:xfrm>
            <a:off x="429768" y="1719072"/>
            <a:ext cx="1572768" cy="475488"/>
          </a:xfrm>
          <a:prstGeom prst="rect">
            <a:avLst/>
          </a:prstGeom>
          <a:noFill/>
          <a:ln/>
        </p:spPr>
        <p:txBody>
          <a:bodyPr wrap="square" rtlCol="0" anchor="ctr"/>
          <a:lstStyle/>
          <a:p>
            <a:pPr marL="0" indent="0" algn="ctr">
              <a:buNone/>
            </a:pPr>
            <a:r>
              <a:rPr lang="en-US" sz="800" dirty="0">
                <a:solidFill>
                  <a:srgbClr val="6B7280"/>
                </a:solidFill>
              </a:rPr>
              <a:t>Idea launch &amp; team formation</a:t>
            </a:r>
            <a:endParaRPr lang="en-US" sz="800" dirty="0"/>
          </a:p>
        </p:txBody>
      </p:sp>
      <p:sp>
        <p:nvSpPr>
          <p:cNvPr id="13" name="Shape 11"/>
          <p:cNvSpPr/>
          <p:nvPr/>
        </p:nvSpPr>
        <p:spPr>
          <a:xfrm>
            <a:off x="2688336" y="2523744"/>
            <a:ext cx="438912" cy="438912"/>
          </a:xfrm>
          <a:prstGeom prst="ellipse">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2688336" y="2523744"/>
            <a:ext cx="438912" cy="438912"/>
          </a:xfrm>
          <a:prstGeom prst="rect">
            <a:avLst/>
          </a:prstGeom>
          <a:noFill/>
          <a:ln/>
        </p:spPr>
        <p:txBody>
          <a:bodyPr wrap="square" rtlCol="0" anchor="ctr"/>
          <a:lstStyle/>
          <a:p>
            <a:pPr marL="0" indent="0" algn="ctr">
              <a:buNone/>
            </a:pPr>
            <a:r>
              <a:rPr lang="en-US" sz="1100" b="1" dirty="0">
                <a:solidFill>
                  <a:srgbClr val="FFFFFF"/>
                </a:solidFill>
              </a:rPr>
              <a:t>✓</a:t>
            </a:r>
            <a:endParaRPr lang="en-US" sz="1100" dirty="0"/>
          </a:p>
        </p:txBody>
      </p:sp>
      <p:sp>
        <p:nvSpPr>
          <p:cNvPr id="15" name="Shape 13"/>
          <p:cNvSpPr/>
          <p:nvPr/>
        </p:nvSpPr>
        <p:spPr>
          <a:xfrm>
            <a:off x="2121408" y="3063240"/>
            <a:ext cx="1664208" cy="1444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2121408" y="3063240"/>
            <a:ext cx="1664208" cy="91440"/>
          </a:xfrm>
          <a:prstGeom prst="rect">
            <a:avLst/>
          </a:prstGeom>
          <a:solidFill>
            <a:srgbClr val="0B6B3A"/>
          </a:solidFill>
          <a:ln/>
        </p:spPr>
        <p:txBody>
          <a:bodyPr/>
          <a:lstStyle/>
          <a:p>
            <a:endParaRPr lang="en-US"/>
          </a:p>
        </p:txBody>
      </p:sp>
      <p:sp>
        <p:nvSpPr>
          <p:cNvPr id="17" name="Text 15"/>
          <p:cNvSpPr/>
          <p:nvPr/>
        </p:nvSpPr>
        <p:spPr>
          <a:xfrm>
            <a:off x="2167128" y="3172968"/>
            <a:ext cx="1572768" cy="256032"/>
          </a:xfrm>
          <a:prstGeom prst="rect">
            <a:avLst/>
          </a:prstGeom>
          <a:noFill/>
          <a:ln/>
        </p:spPr>
        <p:txBody>
          <a:bodyPr wrap="square" rtlCol="0" anchor="ctr"/>
          <a:lstStyle/>
          <a:p>
            <a:pPr marL="0" indent="0" algn="ctr">
              <a:buNone/>
            </a:pPr>
            <a:r>
              <a:rPr lang="en-US" sz="1000" b="1" dirty="0">
                <a:solidFill>
                  <a:srgbClr val="0B6B3A"/>
                </a:solidFill>
              </a:rPr>
              <a:t>Q2 2026</a:t>
            </a:r>
            <a:endParaRPr lang="en-US" sz="1000" dirty="0"/>
          </a:p>
        </p:txBody>
      </p:sp>
      <p:sp>
        <p:nvSpPr>
          <p:cNvPr id="18" name="Text 16"/>
          <p:cNvSpPr/>
          <p:nvPr/>
        </p:nvSpPr>
        <p:spPr>
          <a:xfrm>
            <a:off x="2167128" y="3447288"/>
            <a:ext cx="1572768" cy="384048"/>
          </a:xfrm>
          <a:prstGeom prst="rect">
            <a:avLst/>
          </a:prstGeom>
          <a:noFill/>
          <a:ln/>
        </p:spPr>
        <p:txBody>
          <a:bodyPr wrap="square" rtlCol="0" anchor="ctr"/>
          <a:lstStyle/>
          <a:p>
            <a:pPr marL="0" indent="0" algn="ctr">
              <a:buNone/>
            </a:pPr>
            <a:r>
              <a:rPr lang="en-US" sz="850" b="1" dirty="0">
                <a:solidFill>
                  <a:srgbClr val="374151"/>
                </a:solidFill>
              </a:rPr>
              <a:t>تطوير النموذج الأولي (MVP)</a:t>
            </a:r>
            <a:endParaRPr lang="en-US" sz="850" dirty="0"/>
          </a:p>
        </p:txBody>
      </p:sp>
      <p:sp>
        <p:nvSpPr>
          <p:cNvPr id="19" name="Text 17"/>
          <p:cNvSpPr/>
          <p:nvPr/>
        </p:nvSpPr>
        <p:spPr>
          <a:xfrm>
            <a:off x="2167128" y="3867912"/>
            <a:ext cx="1572768" cy="475488"/>
          </a:xfrm>
          <a:prstGeom prst="rect">
            <a:avLst/>
          </a:prstGeom>
          <a:noFill/>
          <a:ln/>
        </p:spPr>
        <p:txBody>
          <a:bodyPr wrap="square" rtlCol="0" anchor="ctr"/>
          <a:lstStyle/>
          <a:p>
            <a:pPr marL="0" indent="0" algn="ctr">
              <a:buNone/>
            </a:pPr>
            <a:r>
              <a:rPr lang="en-US" sz="800" dirty="0">
                <a:solidFill>
                  <a:srgbClr val="6B7280"/>
                </a:solidFill>
              </a:rPr>
              <a:t>MVP development &amp; testing</a:t>
            </a:r>
            <a:endParaRPr lang="en-US" sz="800" dirty="0"/>
          </a:p>
        </p:txBody>
      </p:sp>
      <p:sp>
        <p:nvSpPr>
          <p:cNvPr id="20" name="Shape 18"/>
          <p:cNvSpPr/>
          <p:nvPr/>
        </p:nvSpPr>
        <p:spPr>
          <a:xfrm>
            <a:off x="4425696" y="2523744"/>
            <a:ext cx="438912" cy="438912"/>
          </a:xfrm>
          <a:prstGeom prst="ellipse">
            <a:avLst/>
          </a:prstGeom>
          <a:solidFill>
            <a:srgbClr val="C9A228"/>
          </a:solidFill>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4425696" y="2523744"/>
            <a:ext cx="438912" cy="438912"/>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22" name="Shape 20"/>
          <p:cNvSpPr/>
          <p:nvPr/>
        </p:nvSpPr>
        <p:spPr>
          <a:xfrm>
            <a:off x="3858768" y="914400"/>
            <a:ext cx="1664208" cy="1444752"/>
          </a:xfrm>
          <a:prstGeom prst="rect">
            <a:avLst/>
          </a:prstGeom>
          <a:solidFill>
            <a:srgbClr val="F4F7FC"/>
          </a:solidFill>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3858768" y="914400"/>
            <a:ext cx="1664208" cy="91440"/>
          </a:xfrm>
          <a:prstGeom prst="rect">
            <a:avLst/>
          </a:prstGeom>
          <a:solidFill>
            <a:srgbClr val="C9A228"/>
          </a:solidFill>
          <a:ln/>
        </p:spPr>
        <p:txBody>
          <a:bodyPr/>
          <a:lstStyle/>
          <a:p>
            <a:endParaRPr lang="en-US"/>
          </a:p>
        </p:txBody>
      </p:sp>
      <p:sp>
        <p:nvSpPr>
          <p:cNvPr id="24" name="Text 22"/>
          <p:cNvSpPr/>
          <p:nvPr/>
        </p:nvSpPr>
        <p:spPr>
          <a:xfrm>
            <a:off x="3904488" y="1024128"/>
            <a:ext cx="1572768" cy="256032"/>
          </a:xfrm>
          <a:prstGeom prst="rect">
            <a:avLst/>
          </a:prstGeom>
          <a:noFill/>
          <a:ln/>
        </p:spPr>
        <p:txBody>
          <a:bodyPr wrap="square" rtlCol="0" anchor="ctr"/>
          <a:lstStyle/>
          <a:p>
            <a:pPr marL="0" indent="0" algn="ctr">
              <a:buNone/>
            </a:pPr>
            <a:r>
              <a:rPr lang="en-US" sz="1000" b="1" dirty="0">
                <a:solidFill>
                  <a:srgbClr val="0D1F3C"/>
                </a:solidFill>
              </a:rPr>
              <a:t>Q3 2026</a:t>
            </a:r>
            <a:endParaRPr lang="en-US" sz="1000" dirty="0"/>
          </a:p>
        </p:txBody>
      </p:sp>
      <p:sp>
        <p:nvSpPr>
          <p:cNvPr id="25" name="Text 23"/>
          <p:cNvSpPr/>
          <p:nvPr/>
        </p:nvSpPr>
        <p:spPr>
          <a:xfrm>
            <a:off x="3904488" y="1298448"/>
            <a:ext cx="1572768" cy="384048"/>
          </a:xfrm>
          <a:prstGeom prst="rect">
            <a:avLst/>
          </a:prstGeom>
          <a:noFill/>
          <a:ln/>
        </p:spPr>
        <p:txBody>
          <a:bodyPr wrap="square" rtlCol="0" anchor="ctr"/>
          <a:lstStyle/>
          <a:p>
            <a:pPr marL="0" indent="0" algn="ctr">
              <a:buNone/>
            </a:pPr>
            <a:r>
              <a:rPr lang="en-US" sz="850" b="1" dirty="0">
                <a:solidFill>
                  <a:srgbClr val="374151"/>
                </a:solidFill>
              </a:rPr>
              <a:t>طلب تمويل منشآت وبدء الانطلاق</a:t>
            </a:r>
            <a:endParaRPr lang="en-US" sz="850" dirty="0"/>
          </a:p>
        </p:txBody>
      </p:sp>
      <p:sp>
        <p:nvSpPr>
          <p:cNvPr id="26" name="Text 24"/>
          <p:cNvSpPr/>
          <p:nvPr/>
        </p:nvSpPr>
        <p:spPr>
          <a:xfrm>
            <a:off x="3904488" y="1719072"/>
            <a:ext cx="1572768" cy="475488"/>
          </a:xfrm>
          <a:prstGeom prst="rect">
            <a:avLst/>
          </a:prstGeom>
          <a:noFill/>
          <a:ln/>
        </p:spPr>
        <p:txBody>
          <a:bodyPr wrap="square" rtlCol="0" anchor="ctr"/>
          <a:lstStyle/>
          <a:p>
            <a:pPr marL="0" indent="0" algn="ctr">
              <a:buNone/>
            </a:pPr>
            <a:r>
              <a:rPr lang="en-US" sz="800" dirty="0">
                <a:solidFill>
                  <a:srgbClr val="6B7280"/>
                </a:solidFill>
              </a:rPr>
              <a:t>Monshaat funding &amp; soft launch</a:t>
            </a:r>
            <a:endParaRPr lang="en-US" sz="800" dirty="0"/>
          </a:p>
        </p:txBody>
      </p:sp>
      <p:sp>
        <p:nvSpPr>
          <p:cNvPr id="27" name="Shape 25"/>
          <p:cNvSpPr/>
          <p:nvPr/>
        </p:nvSpPr>
        <p:spPr>
          <a:xfrm>
            <a:off x="6163056" y="2523744"/>
            <a:ext cx="438912" cy="438912"/>
          </a:xfrm>
          <a:prstGeom prst="ellipse">
            <a:avLst/>
          </a:prstGeom>
          <a:solidFill>
            <a:srgbClr val="C9A228"/>
          </a:solidFill>
          <a:ln/>
          <a:effectLst>
            <a:outerShdw blurRad="101600" dist="38100" dir="8100000" algn="bl" rotWithShape="0">
              <a:srgbClr val="000000">
                <a:alpha val="12000"/>
              </a:srgbClr>
            </a:outerShdw>
          </a:effectLst>
        </p:spPr>
        <p:txBody>
          <a:bodyPr/>
          <a:lstStyle/>
          <a:p>
            <a:endParaRPr lang="en-US"/>
          </a:p>
        </p:txBody>
      </p:sp>
      <p:sp>
        <p:nvSpPr>
          <p:cNvPr id="28" name="Text 26"/>
          <p:cNvSpPr/>
          <p:nvPr/>
        </p:nvSpPr>
        <p:spPr>
          <a:xfrm>
            <a:off x="6163056" y="2523744"/>
            <a:ext cx="438912" cy="438912"/>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9" name="Shape 27"/>
          <p:cNvSpPr/>
          <p:nvPr/>
        </p:nvSpPr>
        <p:spPr>
          <a:xfrm>
            <a:off x="5596128" y="3063240"/>
            <a:ext cx="1664208" cy="1444752"/>
          </a:xfrm>
          <a:prstGeom prst="rect">
            <a:avLst/>
          </a:prstGeom>
          <a:solidFill>
            <a:srgbClr val="F4F7FC"/>
          </a:solidFill>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5596128" y="3063240"/>
            <a:ext cx="1664208" cy="91440"/>
          </a:xfrm>
          <a:prstGeom prst="rect">
            <a:avLst/>
          </a:prstGeom>
          <a:solidFill>
            <a:srgbClr val="C9A228"/>
          </a:solidFill>
          <a:ln/>
        </p:spPr>
        <p:txBody>
          <a:bodyPr/>
          <a:lstStyle/>
          <a:p>
            <a:endParaRPr lang="en-US"/>
          </a:p>
        </p:txBody>
      </p:sp>
      <p:sp>
        <p:nvSpPr>
          <p:cNvPr id="31" name="Text 29"/>
          <p:cNvSpPr/>
          <p:nvPr/>
        </p:nvSpPr>
        <p:spPr>
          <a:xfrm>
            <a:off x="5641848" y="3172968"/>
            <a:ext cx="1572768" cy="256032"/>
          </a:xfrm>
          <a:prstGeom prst="rect">
            <a:avLst/>
          </a:prstGeom>
          <a:noFill/>
          <a:ln/>
        </p:spPr>
        <p:txBody>
          <a:bodyPr wrap="square" rtlCol="0" anchor="ctr"/>
          <a:lstStyle/>
          <a:p>
            <a:pPr marL="0" indent="0" algn="ctr">
              <a:buNone/>
            </a:pPr>
            <a:r>
              <a:rPr lang="en-US" sz="1000" b="1" dirty="0">
                <a:solidFill>
                  <a:srgbClr val="0D1F3C"/>
                </a:solidFill>
              </a:rPr>
              <a:t>Q4 2026</a:t>
            </a:r>
            <a:endParaRPr lang="en-US" sz="1000" dirty="0"/>
          </a:p>
        </p:txBody>
      </p:sp>
      <p:sp>
        <p:nvSpPr>
          <p:cNvPr id="32" name="Text 30"/>
          <p:cNvSpPr/>
          <p:nvPr/>
        </p:nvSpPr>
        <p:spPr>
          <a:xfrm>
            <a:off x="5641848" y="3447288"/>
            <a:ext cx="1572768" cy="384048"/>
          </a:xfrm>
          <a:prstGeom prst="rect">
            <a:avLst/>
          </a:prstGeom>
          <a:noFill/>
          <a:ln/>
        </p:spPr>
        <p:txBody>
          <a:bodyPr wrap="square" rtlCol="0" anchor="ctr"/>
          <a:lstStyle/>
          <a:p>
            <a:pPr marL="0" indent="0" algn="ctr">
              <a:buNone/>
            </a:pPr>
            <a:r>
              <a:rPr lang="en-US" sz="850" b="1" dirty="0">
                <a:solidFill>
                  <a:srgbClr val="374151"/>
                </a:solidFill>
              </a:rPr>
              <a:t>الوصول إلى أول ١٠٠٠ مستخدم</a:t>
            </a:r>
            <a:endParaRPr lang="en-US" sz="850" dirty="0"/>
          </a:p>
        </p:txBody>
      </p:sp>
      <p:sp>
        <p:nvSpPr>
          <p:cNvPr id="33" name="Text 31"/>
          <p:cNvSpPr/>
          <p:nvPr/>
        </p:nvSpPr>
        <p:spPr>
          <a:xfrm>
            <a:off x="5641848" y="3867912"/>
            <a:ext cx="1572768" cy="475488"/>
          </a:xfrm>
          <a:prstGeom prst="rect">
            <a:avLst/>
          </a:prstGeom>
          <a:noFill/>
          <a:ln/>
        </p:spPr>
        <p:txBody>
          <a:bodyPr wrap="square" rtlCol="0" anchor="ctr"/>
          <a:lstStyle/>
          <a:p>
            <a:pPr marL="0" indent="0" algn="ctr">
              <a:buNone/>
            </a:pPr>
            <a:r>
              <a:rPr lang="en-US" sz="800" dirty="0">
                <a:solidFill>
                  <a:srgbClr val="6B7280"/>
                </a:solidFill>
              </a:rPr>
              <a:t>First 1,000 users milestone</a:t>
            </a:r>
            <a:endParaRPr lang="en-US" sz="800" dirty="0"/>
          </a:p>
        </p:txBody>
      </p:sp>
      <p:sp>
        <p:nvSpPr>
          <p:cNvPr id="34" name="Shape 32"/>
          <p:cNvSpPr/>
          <p:nvPr/>
        </p:nvSpPr>
        <p:spPr>
          <a:xfrm>
            <a:off x="7900416" y="2523744"/>
            <a:ext cx="438912" cy="438912"/>
          </a:xfrm>
          <a:prstGeom prst="ellipse">
            <a:avLst/>
          </a:prstGeom>
          <a:solidFill>
            <a:srgbClr val="C9A228"/>
          </a:solidFill>
          <a:ln/>
          <a:effectLst>
            <a:outerShdw blurRad="101600" dist="38100" dir="8100000" algn="bl" rotWithShape="0">
              <a:srgbClr val="000000">
                <a:alpha val="12000"/>
              </a:srgbClr>
            </a:outerShdw>
          </a:effectLst>
        </p:spPr>
        <p:txBody>
          <a:bodyPr/>
          <a:lstStyle/>
          <a:p>
            <a:endParaRPr lang="en-US"/>
          </a:p>
        </p:txBody>
      </p:sp>
      <p:sp>
        <p:nvSpPr>
          <p:cNvPr id="35" name="Text 33"/>
          <p:cNvSpPr/>
          <p:nvPr/>
        </p:nvSpPr>
        <p:spPr>
          <a:xfrm>
            <a:off x="7900416" y="2523744"/>
            <a:ext cx="438912" cy="438912"/>
          </a:xfrm>
          <a:prstGeom prst="rect">
            <a:avLst/>
          </a:prstGeom>
          <a:noFill/>
          <a:ln/>
        </p:spPr>
        <p:txBody>
          <a:bodyPr wrap="square" rtlCol="0" anchor="ctr"/>
          <a:lstStyle/>
          <a:p>
            <a:pPr marL="0" indent="0" algn="ctr">
              <a:buNone/>
            </a:pPr>
            <a:r>
              <a:rPr lang="en-US" sz="1100" b="1" dirty="0">
                <a:solidFill>
                  <a:srgbClr val="FFFFFF"/>
                </a:solidFill>
              </a:rPr>
              <a:t>5</a:t>
            </a:r>
            <a:endParaRPr lang="en-US" sz="1100" dirty="0"/>
          </a:p>
        </p:txBody>
      </p:sp>
      <p:sp>
        <p:nvSpPr>
          <p:cNvPr id="36" name="Shape 34"/>
          <p:cNvSpPr/>
          <p:nvPr/>
        </p:nvSpPr>
        <p:spPr>
          <a:xfrm>
            <a:off x="7333488" y="914400"/>
            <a:ext cx="1664208" cy="1444752"/>
          </a:xfrm>
          <a:prstGeom prst="rect">
            <a:avLst/>
          </a:prstGeom>
          <a:solidFill>
            <a:srgbClr val="F4F7FC"/>
          </a:solidFill>
          <a:ln/>
          <a:effectLst>
            <a:outerShdw blurRad="101600" dist="38100" dir="8100000" algn="bl" rotWithShape="0">
              <a:srgbClr val="000000">
                <a:alpha val="12000"/>
              </a:srgbClr>
            </a:outerShdw>
          </a:effectLst>
        </p:spPr>
        <p:txBody>
          <a:bodyPr/>
          <a:lstStyle/>
          <a:p>
            <a:endParaRPr lang="en-US"/>
          </a:p>
        </p:txBody>
      </p:sp>
      <p:sp>
        <p:nvSpPr>
          <p:cNvPr id="37" name="Shape 35"/>
          <p:cNvSpPr/>
          <p:nvPr/>
        </p:nvSpPr>
        <p:spPr>
          <a:xfrm>
            <a:off x="7333488" y="914400"/>
            <a:ext cx="1664208" cy="91440"/>
          </a:xfrm>
          <a:prstGeom prst="rect">
            <a:avLst/>
          </a:prstGeom>
          <a:solidFill>
            <a:srgbClr val="C9A228"/>
          </a:solidFill>
          <a:ln/>
        </p:spPr>
        <p:txBody>
          <a:bodyPr/>
          <a:lstStyle/>
          <a:p>
            <a:endParaRPr lang="en-US"/>
          </a:p>
        </p:txBody>
      </p:sp>
      <p:sp>
        <p:nvSpPr>
          <p:cNvPr id="38" name="Text 36"/>
          <p:cNvSpPr/>
          <p:nvPr/>
        </p:nvSpPr>
        <p:spPr>
          <a:xfrm>
            <a:off x="7379208" y="1024128"/>
            <a:ext cx="1572768" cy="256032"/>
          </a:xfrm>
          <a:prstGeom prst="rect">
            <a:avLst/>
          </a:prstGeom>
          <a:noFill/>
          <a:ln/>
        </p:spPr>
        <p:txBody>
          <a:bodyPr wrap="square" rtlCol="0" anchor="ctr"/>
          <a:lstStyle/>
          <a:p>
            <a:pPr marL="0" indent="0" algn="ctr">
              <a:buNone/>
            </a:pPr>
            <a:r>
              <a:rPr lang="en-US" sz="1000" b="1" dirty="0">
                <a:solidFill>
                  <a:srgbClr val="0D1F3C"/>
                </a:solidFill>
              </a:rPr>
              <a:t>Q1 2027</a:t>
            </a:r>
            <a:endParaRPr lang="en-US" sz="1000" dirty="0"/>
          </a:p>
        </p:txBody>
      </p:sp>
      <p:sp>
        <p:nvSpPr>
          <p:cNvPr id="39" name="Text 37"/>
          <p:cNvSpPr/>
          <p:nvPr/>
        </p:nvSpPr>
        <p:spPr>
          <a:xfrm>
            <a:off x="7379208" y="1298448"/>
            <a:ext cx="1572768" cy="384048"/>
          </a:xfrm>
          <a:prstGeom prst="rect">
            <a:avLst/>
          </a:prstGeom>
          <a:noFill/>
          <a:ln/>
        </p:spPr>
        <p:txBody>
          <a:bodyPr wrap="square" rtlCol="0" anchor="ctr"/>
          <a:lstStyle/>
          <a:p>
            <a:pPr marL="0" indent="0" algn="ctr">
              <a:buNone/>
            </a:pPr>
            <a:r>
              <a:rPr lang="en-US" sz="850" b="1" dirty="0">
                <a:solidFill>
                  <a:srgbClr val="374151"/>
                </a:solidFill>
              </a:rPr>
              <a:t>بدء تحقيق الإيرادات والتوسع</a:t>
            </a:r>
            <a:endParaRPr lang="en-US" sz="850" dirty="0"/>
          </a:p>
        </p:txBody>
      </p:sp>
      <p:sp>
        <p:nvSpPr>
          <p:cNvPr id="40" name="Text 38"/>
          <p:cNvSpPr/>
          <p:nvPr/>
        </p:nvSpPr>
        <p:spPr>
          <a:xfrm>
            <a:off x="7379208" y="1719072"/>
            <a:ext cx="1572768" cy="475488"/>
          </a:xfrm>
          <a:prstGeom prst="rect">
            <a:avLst/>
          </a:prstGeom>
          <a:noFill/>
          <a:ln/>
        </p:spPr>
        <p:txBody>
          <a:bodyPr wrap="square" rtlCol="0" anchor="ctr"/>
          <a:lstStyle/>
          <a:p>
            <a:pPr marL="0" indent="0" algn="ctr">
              <a:buNone/>
            </a:pPr>
            <a:r>
              <a:rPr lang="en-US" sz="800" dirty="0">
                <a:solidFill>
                  <a:srgbClr val="6B7280"/>
                </a:solidFill>
              </a:rPr>
              <a:t>Revenue generation &amp; expansion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6B3A"/>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الفريق  |  The Team</a:t>
            </a:r>
            <a:endParaRPr lang="en-US" sz="2000" dirty="0"/>
          </a:p>
        </p:txBody>
      </p:sp>
      <p:sp>
        <p:nvSpPr>
          <p:cNvPr id="5" name="Shape 3"/>
          <p:cNvSpPr/>
          <p:nvPr/>
        </p:nvSpPr>
        <p:spPr>
          <a:xfrm>
            <a:off x="274320" y="914400"/>
            <a:ext cx="2724912"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914400"/>
            <a:ext cx="2724912" cy="128016"/>
          </a:xfrm>
          <a:prstGeom prst="rect">
            <a:avLst/>
          </a:prstGeom>
          <a:solidFill>
            <a:srgbClr val="0D1F3C"/>
          </a:solidFill>
          <a:ln/>
        </p:spPr>
        <p:txBody>
          <a:bodyPr/>
          <a:lstStyle/>
          <a:p>
            <a:endParaRPr lang="en-US"/>
          </a:p>
        </p:txBody>
      </p:sp>
      <p:sp>
        <p:nvSpPr>
          <p:cNvPr id="7" name="Shape 5"/>
          <p:cNvSpPr/>
          <p:nvPr/>
        </p:nvSpPr>
        <p:spPr>
          <a:xfrm>
            <a:off x="1179576" y="1143000"/>
            <a:ext cx="914400" cy="914400"/>
          </a:xfrm>
          <a:prstGeom prst="ellipse">
            <a:avLst/>
          </a:prstGeom>
          <a:solidFill>
            <a:srgbClr val="0D1F3C"/>
          </a:solidFill>
          <a:ln/>
        </p:spPr>
        <p:txBody>
          <a:bodyPr/>
          <a:lstStyle/>
          <a:p>
            <a:endParaRPr lang="en-US"/>
          </a:p>
        </p:txBody>
      </p:sp>
      <p:sp>
        <p:nvSpPr>
          <p:cNvPr id="8" name="Text 6"/>
          <p:cNvSpPr/>
          <p:nvPr/>
        </p:nvSpPr>
        <p:spPr>
          <a:xfrm>
            <a:off x="1179576" y="1143000"/>
            <a:ext cx="914400" cy="914400"/>
          </a:xfrm>
          <a:prstGeom prst="rect">
            <a:avLst/>
          </a:prstGeom>
          <a:noFill/>
          <a:ln/>
        </p:spPr>
        <p:txBody>
          <a:bodyPr wrap="square" rtlCol="0" anchor="ctr"/>
          <a:lstStyle/>
          <a:p>
            <a:pPr marL="0" indent="0" algn="ctr">
              <a:buNone/>
            </a:pPr>
            <a:r>
              <a:rPr lang="en-US" sz="2200" b="1" dirty="0">
                <a:solidFill>
                  <a:srgbClr val="FFFFFF"/>
                </a:solidFill>
              </a:rPr>
              <a:t>MA</a:t>
            </a:r>
            <a:endParaRPr lang="en-US" sz="2200" dirty="0"/>
          </a:p>
        </p:txBody>
      </p:sp>
      <p:sp>
        <p:nvSpPr>
          <p:cNvPr id="9" name="Text 7"/>
          <p:cNvSpPr/>
          <p:nvPr/>
        </p:nvSpPr>
        <p:spPr>
          <a:xfrm>
            <a:off x="365760" y="2176272"/>
            <a:ext cx="2542032" cy="594360"/>
          </a:xfrm>
          <a:prstGeom prst="rect">
            <a:avLst/>
          </a:prstGeom>
          <a:noFill/>
          <a:ln/>
        </p:spPr>
        <p:txBody>
          <a:bodyPr wrap="square" rtlCol="0" anchor="ctr"/>
          <a:lstStyle/>
          <a:p>
            <a:pPr marL="0" indent="0" algn="ctr">
              <a:buNone/>
            </a:pPr>
            <a:r>
              <a:rPr lang="en-US" sz="1050" b="1" dirty="0">
                <a:solidFill>
                  <a:srgbClr val="374151"/>
                </a:solidFill>
              </a:rPr>
              <a:t>Mohammed Abotargah</a:t>
            </a:r>
            <a:endParaRPr lang="en-US" sz="1050" dirty="0"/>
          </a:p>
          <a:p>
            <a:pPr marL="0" indent="0" algn="ctr">
              <a:buNone/>
            </a:pPr>
            <a:r>
              <a:rPr lang="en-US" sz="1050" b="1" dirty="0">
                <a:solidFill>
                  <a:srgbClr val="374151"/>
                </a:solidFill>
              </a:rPr>
              <a:t>محمد أبوترجة</a:t>
            </a:r>
            <a:endParaRPr lang="en-US" sz="1050" dirty="0"/>
          </a:p>
        </p:txBody>
      </p:sp>
      <p:sp>
        <p:nvSpPr>
          <p:cNvPr id="10" name="Shape 8"/>
          <p:cNvSpPr/>
          <p:nvPr/>
        </p:nvSpPr>
        <p:spPr>
          <a:xfrm>
            <a:off x="950976" y="2798064"/>
            <a:ext cx="1371600" cy="45720"/>
          </a:xfrm>
          <a:prstGeom prst="rect">
            <a:avLst/>
          </a:prstGeom>
          <a:solidFill>
            <a:srgbClr val="C9A228"/>
          </a:solidFill>
          <a:ln/>
        </p:spPr>
        <p:txBody>
          <a:bodyPr/>
          <a:lstStyle/>
          <a:p>
            <a:endParaRPr lang="en-US"/>
          </a:p>
        </p:txBody>
      </p:sp>
      <p:sp>
        <p:nvSpPr>
          <p:cNvPr id="11" name="Text 9"/>
          <p:cNvSpPr/>
          <p:nvPr/>
        </p:nvSpPr>
        <p:spPr>
          <a:xfrm>
            <a:off x="365760" y="2871216"/>
            <a:ext cx="2542032" cy="502920"/>
          </a:xfrm>
          <a:prstGeom prst="rect">
            <a:avLst/>
          </a:prstGeom>
          <a:noFill/>
          <a:ln/>
        </p:spPr>
        <p:txBody>
          <a:bodyPr wrap="square" rtlCol="0" anchor="ctr"/>
          <a:lstStyle/>
          <a:p>
            <a:pPr marL="0" indent="0" algn="ctr">
              <a:buNone/>
            </a:pPr>
            <a:r>
              <a:rPr lang="en-US" sz="950" b="1" dirty="0">
                <a:solidFill>
                  <a:srgbClr val="0D1F3C"/>
                </a:solidFill>
              </a:rPr>
              <a:t>المؤسس والرئيس التنفيذي</a:t>
            </a:r>
            <a:endParaRPr lang="en-US" sz="950" dirty="0"/>
          </a:p>
          <a:p>
            <a:pPr marL="0" indent="0" algn="ctr">
              <a:buNone/>
            </a:pPr>
            <a:r>
              <a:rPr lang="en-US" sz="950" b="1" dirty="0">
                <a:solidFill>
                  <a:srgbClr val="0D1F3C"/>
                </a:solidFill>
              </a:rPr>
              <a:t>Founder &amp; CEO</a:t>
            </a:r>
            <a:endParaRPr lang="en-US" sz="950" dirty="0"/>
          </a:p>
        </p:txBody>
      </p:sp>
      <p:sp>
        <p:nvSpPr>
          <p:cNvPr id="12" name="Text 10"/>
          <p:cNvSpPr/>
          <p:nvPr/>
        </p:nvSpPr>
        <p:spPr>
          <a:xfrm>
            <a:off x="365760" y="3429000"/>
            <a:ext cx="2542032" cy="1097280"/>
          </a:xfrm>
          <a:prstGeom prst="rect">
            <a:avLst/>
          </a:prstGeom>
          <a:noFill/>
          <a:ln/>
        </p:spPr>
        <p:txBody>
          <a:bodyPr wrap="square" rtlCol="0" anchor="ctr"/>
          <a:lstStyle/>
          <a:p>
            <a:pPr marL="0" indent="0" algn="ctr">
              <a:buNone/>
            </a:pPr>
            <a:r>
              <a:rPr lang="en-US" sz="850" dirty="0">
                <a:solidFill>
                  <a:srgbClr val="6B7280"/>
                </a:solidFill>
              </a:rPr>
              <a:t>رؤية استراتيجية | قيادة الأعمال</a:t>
            </a:r>
            <a:endParaRPr lang="en-US" sz="850" dirty="0"/>
          </a:p>
          <a:p>
            <a:pPr marL="0" indent="0" algn="ctr">
              <a:buNone/>
            </a:pPr>
            <a:r>
              <a:rPr lang="en-US" sz="850" dirty="0">
                <a:solidFill>
                  <a:srgbClr val="6B7280"/>
                </a:solidFill>
              </a:rPr>
              <a:t>Strategic Vision | Business Leadership</a:t>
            </a:r>
            <a:endParaRPr lang="en-US" sz="850" dirty="0"/>
          </a:p>
        </p:txBody>
      </p:sp>
      <p:sp>
        <p:nvSpPr>
          <p:cNvPr id="13" name="Shape 11"/>
          <p:cNvSpPr/>
          <p:nvPr/>
        </p:nvSpPr>
        <p:spPr>
          <a:xfrm>
            <a:off x="3273552" y="914400"/>
            <a:ext cx="2724912"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3273552" y="914400"/>
            <a:ext cx="2724912" cy="128016"/>
          </a:xfrm>
          <a:prstGeom prst="rect">
            <a:avLst/>
          </a:prstGeom>
          <a:solidFill>
            <a:srgbClr val="0B6B3A"/>
          </a:solidFill>
          <a:ln/>
        </p:spPr>
        <p:txBody>
          <a:bodyPr/>
          <a:lstStyle/>
          <a:p>
            <a:endParaRPr lang="en-US"/>
          </a:p>
        </p:txBody>
      </p:sp>
      <p:sp>
        <p:nvSpPr>
          <p:cNvPr id="15" name="Shape 13"/>
          <p:cNvSpPr/>
          <p:nvPr/>
        </p:nvSpPr>
        <p:spPr>
          <a:xfrm>
            <a:off x="4178808" y="1143000"/>
            <a:ext cx="914400" cy="914400"/>
          </a:xfrm>
          <a:prstGeom prst="ellipse">
            <a:avLst/>
          </a:prstGeom>
          <a:solidFill>
            <a:srgbClr val="0B6B3A"/>
          </a:solidFill>
          <a:ln/>
        </p:spPr>
        <p:txBody>
          <a:bodyPr/>
          <a:lstStyle/>
          <a:p>
            <a:endParaRPr lang="en-US"/>
          </a:p>
        </p:txBody>
      </p:sp>
      <p:sp>
        <p:nvSpPr>
          <p:cNvPr id="16" name="Text 14"/>
          <p:cNvSpPr/>
          <p:nvPr/>
        </p:nvSpPr>
        <p:spPr>
          <a:xfrm>
            <a:off x="4178808" y="1143000"/>
            <a:ext cx="914400" cy="914400"/>
          </a:xfrm>
          <a:prstGeom prst="rect">
            <a:avLst/>
          </a:prstGeom>
          <a:noFill/>
          <a:ln/>
        </p:spPr>
        <p:txBody>
          <a:bodyPr wrap="square" rtlCol="0" anchor="ctr"/>
          <a:lstStyle/>
          <a:p>
            <a:pPr marL="0" indent="0" algn="ctr">
              <a:buNone/>
            </a:pPr>
            <a:r>
              <a:rPr lang="en-US" sz="2200" b="1" dirty="0">
                <a:solidFill>
                  <a:srgbClr val="FFFFFF"/>
                </a:solidFill>
              </a:rPr>
              <a:t>CT</a:t>
            </a:r>
            <a:endParaRPr lang="en-US" sz="2200" dirty="0"/>
          </a:p>
        </p:txBody>
      </p:sp>
      <p:sp>
        <p:nvSpPr>
          <p:cNvPr id="17" name="Text 15"/>
          <p:cNvSpPr/>
          <p:nvPr/>
        </p:nvSpPr>
        <p:spPr>
          <a:xfrm>
            <a:off x="3364992" y="2176272"/>
            <a:ext cx="2542032" cy="594360"/>
          </a:xfrm>
          <a:prstGeom prst="rect">
            <a:avLst/>
          </a:prstGeom>
          <a:noFill/>
          <a:ln/>
        </p:spPr>
        <p:txBody>
          <a:bodyPr wrap="square" rtlCol="0" anchor="ctr"/>
          <a:lstStyle/>
          <a:p>
            <a:pPr marL="0" indent="0" algn="ctr">
              <a:buNone/>
            </a:pPr>
            <a:r>
              <a:rPr lang="en-US" sz="1050" b="1" dirty="0">
                <a:solidFill>
                  <a:srgbClr val="374151"/>
                </a:solidFill>
              </a:rPr>
              <a:t>[مدير التقنية]</a:t>
            </a:r>
            <a:endParaRPr lang="en-US" sz="1050" dirty="0"/>
          </a:p>
          <a:p>
            <a:pPr marL="0" indent="0" algn="ctr">
              <a:buNone/>
            </a:pPr>
            <a:r>
              <a:rPr lang="en-US" sz="1050" b="1" dirty="0">
                <a:solidFill>
                  <a:srgbClr val="374151"/>
                </a:solidFill>
              </a:rPr>
              <a:t>[CTO – To be named]</a:t>
            </a:r>
            <a:endParaRPr lang="en-US" sz="1050" dirty="0"/>
          </a:p>
        </p:txBody>
      </p:sp>
      <p:sp>
        <p:nvSpPr>
          <p:cNvPr id="18" name="Shape 16"/>
          <p:cNvSpPr/>
          <p:nvPr/>
        </p:nvSpPr>
        <p:spPr>
          <a:xfrm>
            <a:off x="3950208" y="2798064"/>
            <a:ext cx="1371600" cy="45720"/>
          </a:xfrm>
          <a:prstGeom prst="rect">
            <a:avLst/>
          </a:prstGeom>
          <a:solidFill>
            <a:srgbClr val="C9A228"/>
          </a:solidFill>
          <a:ln/>
        </p:spPr>
        <p:txBody>
          <a:bodyPr/>
          <a:lstStyle/>
          <a:p>
            <a:endParaRPr lang="en-US"/>
          </a:p>
        </p:txBody>
      </p:sp>
      <p:sp>
        <p:nvSpPr>
          <p:cNvPr id="19" name="Text 17"/>
          <p:cNvSpPr/>
          <p:nvPr/>
        </p:nvSpPr>
        <p:spPr>
          <a:xfrm>
            <a:off x="3364992" y="2871216"/>
            <a:ext cx="2542032" cy="502920"/>
          </a:xfrm>
          <a:prstGeom prst="rect">
            <a:avLst/>
          </a:prstGeom>
          <a:noFill/>
          <a:ln/>
        </p:spPr>
        <p:txBody>
          <a:bodyPr wrap="square" rtlCol="0" anchor="ctr"/>
          <a:lstStyle/>
          <a:p>
            <a:pPr marL="0" indent="0" algn="ctr">
              <a:buNone/>
            </a:pPr>
            <a:r>
              <a:rPr lang="en-US" sz="950" b="1" dirty="0">
                <a:solidFill>
                  <a:srgbClr val="0B6B3A"/>
                </a:solidFill>
              </a:rPr>
              <a:t>مدير التقنية</a:t>
            </a:r>
            <a:endParaRPr lang="en-US" sz="950" dirty="0"/>
          </a:p>
          <a:p>
            <a:pPr marL="0" indent="0" algn="ctr">
              <a:buNone/>
            </a:pPr>
            <a:r>
              <a:rPr lang="en-US" sz="950" b="1" dirty="0">
                <a:solidFill>
                  <a:srgbClr val="0B6B3A"/>
                </a:solidFill>
              </a:rPr>
              <a:t>Chief Technology Officer</a:t>
            </a:r>
            <a:endParaRPr lang="en-US" sz="950" dirty="0"/>
          </a:p>
        </p:txBody>
      </p:sp>
      <p:sp>
        <p:nvSpPr>
          <p:cNvPr id="20" name="Text 18"/>
          <p:cNvSpPr/>
          <p:nvPr/>
        </p:nvSpPr>
        <p:spPr>
          <a:xfrm>
            <a:off x="3364992" y="3429000"/>
            <a:ext cx="2542032" cy="1097280"/>
          </a:xfrm>
          <a:prstGeom prst="rect">
            <a:avLst/>
          </a:prstGeom>
          <a:noFill/>
          <a:ln/>
        </p:spPr>
        <p:txBody>
          <a:bodyPr wrap="square" rtlCol="0" anchor="ctr"/>
          <a:lstStyle/>
          <a:p>
            <a:pPr marL="0" indent="0" algn="ctr">
              <a:buNone/>
            </a:pPr>
            <a:r>
              <a:rPr lang="en-US" sz="850" dirty="0">
                <a:solidFill>
                  <a:srgbClr val="6B7280"/>
                </a:solidFill>
              </a:rPr>
              <a:t>تطوير المنصات | الأمن السيبراني</a:t>
            </a:r>
            <a:endParaRPr lang="en-US" sz="850" dirty="0"/>
          </a:p>
          <a:p>
            <a:pPr marL="0" indent="0" algn="ctr">
              <a:buNone/>
            </a:pPr>
            <a:r>
              <a:rPr lang="en-US" sz="850" dirty="0">
                <a:solidFill>
                  <a:srgbClr val="6B7280"/>
                </a:solidFill>
              </a:rPr>
              <a:t>Platform Dev | Cybersecurity</a:t>
            </a:r>
            <a:endParaRPr lang="en-US" sz="850" dirty="0"/>
          </a:p>
        </p:txBody>
      </p:sp>
      <p:sp>
        <p:nvSpPr>
          <p:cNvPr id="21" name="Shape 19"/>
          <p:cNvSpPr/>
          <p:nvPr/>
        </p:nvSpPr>
        <p:spPr>
          <a:xfrm>
            <a:off x="6272784" y="914400"/>
            <a:ext cx="2724912" cy="382219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6272784" y="914400"/>
            <a:ext cx="2724912" cy="128016"/>
          </a:xfrm>
          <a:prstGeom prst="rect">
            <a:avLst/>
          </a:prstGeom>
          <a:solidFill>
            <a:srgbClr val="0B6B3A"/>
          </a:solidFill>
          <a:ln/>
        </p:spPr>
        <p:txBody>
          <a:bodyPr/>
          <a:lstStyle/>
          <a:p>
            <a:endParaRPr lang="en-US"/>
          </a:p>
        </p:txBody>
      </p:sp>
      <p:sp>
        <p:nvSpPr>
          <p:cNvPr id="23" name="Shape 21"/>
          <p:cNvSpPr/>
          <p:nvPr/>
        </p:nvSpPr>
        <p:spPr>
          <a:xfrm>
            <a:off x="7178040" y="1143000"/>
            <a:ext cx="914400" cy="914400"/>
          </a:xfrm>
          <a:prstGeom prst="ellipse">
            <a:avLst/>
          </a:prstGeom>
          <a:solidFill>
            <a:srgbClr val="0B6B3A"/>
          </a:solidFill>
          <a:ln/>
        </p:spPr>
        <p:txBody>
          <a:bodyPr/>
          <a:lstStyle/>
          <a:p>
            <a:endParaRPr lang="en-US"/>
          </a:p>
        </p:txBody>
      </p:sp>
      <p:sp>
        <p:nvSpPr>
          <p:cNvPr id="24" name="Text 22"/>
          <p:cNvSpPr/>
          <p:nvPr/>
        </p:nvSpPr>
        <p:spPr>
          <a:xfrm>
            <a:off x="7178040" y="1143000"/>
            <a:ext cx="914400" cy="914400"/>
          </a:xfrm>
          <a:prstGeom prst="rect">
            <a:avLst/>
          </a:prstGeom>
          <a:noFill/>
          <a:ln/>
        </p:spPr>
        <p:txBody>
          <a:bodyPr wrap="square" rtlCol="0" anchor="ctr"/>
          <a:lstStyle/>
          <a:p>
            <a:pPr marL="0" indent="0" algn="ctr">
              <a:buNone/>
            </a:pPr>
            <a:r>
              <a:rPr lang="en-US" sz="2200" b="1" dirty="0">
                <a:solidFill>
                  <a:srgbClr val="FFFFFF"/>
                </a:solidFill>
              </a:rPr>
              <a:t>CM</a:t>
            </a:r>
            <a:endParaRPr lang="en-US" sz="2200" dirty="0"/>
          </a:p>
        </p:txBody>
      </p:sp>
      <p:sp>
        <p:nvSpPr>
          <p:cNvPr id="25" name="Text 23"/>
          <p:cNvSpPr/>
          <p:nvPr/>
        </p:nvSpPr>
        <p:spPr>
          <a:xfrm>
            <a:off x="6364224" y="2176272"/>
            <a:ext cx="2542032" cy="594360"/>
          </a:xfrm>
          <a:prstGeom prst="rect">
            <a:avLst/>
          </a:prstGeom>
          <a:noFill/>
          <a:ln/>
        </p:spPr>
        <p:txBody>
          <a:bodyPr wrap="square" rtlCol="0" anchor="ctr"/>
          <a:lstStyle/>
          <a:p>
            <a:pPr marL="0" indent="0" algn="ctr">
              <a:buNone/>
            </a:pPr>
            <a:r>
              <a:rPr lang="en-US" sz="1050" b="1" dirty="0">
                <a:solidFill>
                  <a:srgbClr val="374151"/>
                </a:solidFill>
              </a:rPr>
              <a:t>[مدير التسويق]</a:t>
            </a:r>
            <a:endParaRPr lang="en-US" sz="1050" dirty="0"/>
          </a:p>
          <a:p>
            <a:pPr marL="0" indent="0" algn="ctr">
              <a:buNone/>
            </a:pPr>
            <a:r>
              <a:rPr lang="en-US" sz="1050" b="1" dirty="0">
                <a:solidFill>
                  <a:srgbClr val="374151"/>
                </a:solidFill>
              </a:rPr>
              <a:t>[CMO – To be named]</a:t>
            </a:r>
            <a:endParaRPr lang="en-US" sz="1050" dirty="0"/>
          </a:p>
        </p:txBody>
      </p:sp>
      <p:sp>
        <p:nvSpPr>
          <p:cNvPr id="26" name="Shape 24"/>
          <p:cNvSpPr/>
          <p:nvPr/>
        </p:nvSpPr>
        <p:spPr>
          <a:xfrm>
            <a:off x="6949440" y="2798064"/>
            <a:ext cx="1371600" cy="45720"/>
          </a:xfrm>
          <a:prstGeom prst="rect">
            <a:avLst/>
          </a:prstGeom>
          <a:solidFill>
            <a:srgbClr val="C9A228"/>
          </a:solidFill>
          <a:ln/>
        </p:spPr>
        <p:txBody>
          <a:bodyPr/>
          <a:lstStyle/>
          <a:p>
            <a:endParaRPr lang="en-US"/>
          </a:p>
        </p:txBody>
      </p:sp>
      <p:sp>
        <p:nvSpPr>
          <p:cNvPr id="27" name="Text 25"/>
          <p:cNvSpPr/>
          <p:nvPr/>
        </p:nvSpPr>
        <p:spPr>
          <a:xfrm>
            <a:off x="6364224" y="2871216"/>
            <a:ext cx="2542032" cy="502920"/>
          </a:xfrm>
          <a:prstGeom prst="rect">
            <a:avLst/>
          </a:prstGeom>
          <a:noFill/>
          <a:ln/>
        </p:spPr>
        <p:txBody>
          <a:bodyPr wrap="square" rtlCol="0" anchor="ctr"/>
          <a:lstStyle/>
          <a:p>
            <a:pPr marL="0" indent="0" algn="ctr">
              <a:buNone/>
            </a:pPr>
            <a:r>
              <a:rPr lang="en-US" sz="950" b="1" dirty="0">
                <a:solidFill>
                  <a:srgbClr val="0B6B3A"/>
                </a:solidFill>
              </a:rPr>
              <a:t>مدير التسويق</a:t>
            </a:r>
            <a:endParaRPr lang="en-US" sz="950" dirty="0"/>
          </a:p>
          <a:p>
            <a:pPr marL="0" indent="0" algn="ctr">
              <a:buNone/>
            </a:pPr>
            <a:r>
              <a:rPr lang="en-US" sz="950" b="1" dirty="0">
                <a:solidFill>
                  <a:srgbClr val="0B6B3A"/>
                </a:solidFill>
              </a:rPr>
              <a:t>Chief Marketing Officer</a:t>
            </a:r>
            <a:endParaRPr lang="en-US" sz="950" dirty="0"/>
          </a:p>
        </p:txBody>
      </p:sp>
      <p:sp>
        <p:nvSpPr>
          <p:cNvPr id="28" name="Text 26"/>
          <p:cNvSpPr/>
          <p:nvPr/>
        </p:nvSpPr>
        <p:spPr>
          <a:xfrm>
            <a:off x="6364224" y="3429000"/>
            <a:ext cx="2542032" cy="1097280"/>
          </a:xfrm>
          <a:prstGeom prst="rect">
            <a:avLst/>
          </a:prstGeom>
          <a:noFill/>
          <a:ln/>
        </p:spPr>
        <p:txBody>
          <a:bodyPr wrap="square" rtlCol="0" anchor="ctr"/>
          <a:lstStyle/>
          <a:p>
            <a:pPr marL="0" indent="0" algn="ctr">
              <a:buNone/>
            </a:pPr>
            <a:r>
              <a:rPr lang="en-US" sz="850" dirty="0">
                <a:solidFill>
                  <a:srgbClr val="6B7280"/>
                </a:solidFill>
              </a:rPr>
              <a:t>نمو السوق | إدارة العلامة</a:t>
            </a:r>
            <a:endParaRPr lang="en-US" sz="850" dirty="0"/>
          </a:p>
          <a:p>
            <a:pPr marL="0" indent="0" algn="ctr">
              <a:buNone/>
            </a:pPr>
            <a:r>
              <a:rPr lang="en-US" sz="850" dirty="0">
                <a:solidFill>
                  <a:srgbClr val="6B7280"/>
                </a:solidFill>
              </a:rPr>
              <a:t>Market Growth | Brand Management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التوقعات المالية  |  Financial Projections</a:t>
            </a:r>
            <a:endParaRPr lang="en-US" sz="2000" dirty="0"/>
          </a:p>
        </p:txBody>
      </p:sp>
      <p:sp>
        <p:nvSpPr>
          <p:cNvPr id="5" name="Shape 3"/>
          <p:cNvSpPr/>
          <p:nvPr/>
        </p:nvSpPr>
        <p:spPr>
          <a:xfrm>
            <a:off x="274320" y="896112"/>
            <a:ext cx="2697480" cy="1115568"/>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274320" y="914400"/>
            <a:ext cx="2697480" cy="566928"/>
          </a:xfrm>
          <a:prstGeom prst="rect">
            <a:avLst/>
          </a:prstGeom>
          <a:noFill/>
          <a:ln/>
        </p:spPr>
        <p:txBody>
          <a:bodyPr wrap="square" rtlCol="0" anchor="ctr"/>
          <a:lstStyle/>
          <a:p>
            <a:pPr marL="0" indent="0" algn="ctr">
              <a:buNone/>
            </a:pPr>
            <a:r>
              <a:rPr lang="en-US" sz="2200" b="1" dirty="0">
                <a:solidFill>
                  <a:srgbClr val="C9A228"/>
                </a:solidFill>
              </a:rPr>
              <a:t>SAR 150K</a:t>
            </a:r>
            <a:endParaRPr lang="en-US" sz="2200" dirty="0"/>
          </a:p>
        </p:txBody>
      </p:sp>
      <p:sp>
        <p:nvSpPr>
          <p:cNvPr id="7" name="Text 5"/>
          <p:cNvSpPr/>
          <p:nvPr/>
        </p:nvSpPr>
        <p:spPr>
          <a:xfrm>
            <a:off x="365760" y="1481328"/>
            <a:ext cx="2514600" cy="438912"/>
          </a:xfrm>
          <a:prstGeom prst="rect">
            <a:avLst/>
          </a:prstGeom>
          <a:noFill/>
          <a:ln/>
        </p:spPr>
        <p:txBody>
          <a:bodyPr wrap="square" rtlCol="0" anchor="ctr"/>
          <a:lstStyle/>
          <a:p>
            <a:pPr marL="0" indent="0" algn="ctr">
              <a:buNone/>
            </a:pPr>
            <a:r>
              <a:rPr lang="en-US" sz="900" dirty="0">
                <a:solidFill>
                  <a:srgbClr val="A8C4E0"/>
                </a:solidFill>
              </a:rPr>
              <a:t>الإيرادات السنة ١</a:t>
            </a:r>
            <a:endParaRPr lang="en-US" sz="900" dirty="0"/>
          </a:p>
          <a:p>
            <a:pPr marL="0" indent="0" algn="ctr">
              <a:buNone/>
            </a:pPr>
            <a:r>
              <a:rPr lang="en-US" sz="900" dirty="0">
                <a:solidFill>
                  <a:srgbClr val="A8C4E0"/>
                </a:solidFill>
              </a:rPr>
              <a:t>Year 1 Revenue</a:t>
            </a:r>
            <a:endParaRPr lang="en-US" sz="900" dirty="0"/>
          </a:p>
        </p:txBody>
      </p:sp>
      <p:sp>
        <p:nvSpPr>
          <p:cNvPr id="8" name="Shape 6"/>
          <p:cNvSpPr/>
          <p:nvPr/>
        </p:nvSpPr>
        <p:spPr>
          <a:xfrm>
            <a:off x="3246120" y="896112"/>
            <a:ext cx="2697480" cy="1115568"/>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3246120" y="914400"/>
            <a:ext cx="2697480" cy="566928"/>
          </a:xfrm>
          <a:prstGeom prst="rect">
            <a:avLst/>
          </a:prstGeom>
          <a:noFill/>
          <a:ln/>
        </p:spPr>
        <p:txBody>
          <a:bodyPr wrap="square" rtlCol="0" anchor="ctr"/>
          <a:lstStyle/>
          <a:p>
            <a:pPr marL="0" indent="0" algn="ctr">
              <a:buNone/>
            </a:pPr>
            <a:r>
              <a:rPr lang="en-US" sz="2200" b="1" dirty="0">
                <a:solidFill>
                  <a:srgbClr val="C9A228"/>
                </a:solidFill>
              </a:rPr>
              <a:t>SAR 480K</a:t>
            </a:r>
            <a:endParaRPr lang="en-US" sz="2200" dirty="0"/>
          </a:p>
        </p:txBody>
      </p:sp>
      <p:sp>
        <p:nvSpPr>
          <p:cNvPr id="10" name="Text 8"/>
          <p:cNvSpPr/>
          <p:nvPr/>
        </p:nvSpPr>
        <p:spPr>
          <a:xfrm>
            <a:off x="3337560" y="1481328"/>
            <a:ext cx="2514600" cy="438912"/>
          </a:xfrm>
          <a:prstGeom prst="rect">
            <a:avLst/>
          </a:prstGeom>
          <a:noFill/>
          <a:ln/>
        </p:spPr>
        <p:txBody>
          <a:bodyPr wrap="square" rtlCol="0" anchor="ctr"/>
          <a:lstStyle/>
          <a:p>
            <a:pPr marL="0" indent="0" algn="ctr">
              <a:buNone/>
            </a:pPr>
            <a:r>
              <a:rPr lang="en-US" sz="900" dirty="0">
                <a:solidFill>
                  <a:srgbClr val="A8C4E0"/>
                </a:solidFill>
              </a:rPr>
              <a:t>الإيرادات السنة ٢</a:t>
            </a:r>
            <a:endParaRPr lang="en-US" sz="900" dirty="0"/>
          </a:p>
          <a:p>
            <a:pPr marL="0" indent="0" algn="ctr">
              <a:buNone/>
            </a:pPr>
            <a:r>
              <a:rPr lang="en-US" sz="900" dirty="0">
                <a:solidFill>
                  <a:srgbClr val="A8C4E0"/>
                </a:solidFill>
              </a:rPr>
              <a:t>Year 2 Revenue</a:t>
            </a:r>
            <a:endParaRPr lang="en-US" sz="900" dirty="0"/>
          </a:p>
        </p:txBody>
      </p:sp>
      <p:sp>
        <p:nvSpPr>
          <p:cNvPr id="11" name="Shape 9"/>
          <p:cNvSpPr/>
          <p:nvPr/>
        </p:nvSpPr>
        <p:spPr>
          <a:xfrm>
            <a:off x="6217920" y="896112"/>
            <a:ext cx="2697480" cy="1115568"/>
          </a:xfrm>
          <a:prstGeom prst="rect">
            <a:avLst/>
          </a:prstGeom>
          <a:solidFill>
            <a:srgbClr val="0B6B3A"/>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6217920" y="914400"/>
            <a:ext cx="2697480" cy="566928"/>
          </a:xfrm>
          <a:prstGeom prst="rect">
            <a:avLst/>
          </a:prstGeom>
          <a:noFill/>
          <a:ln/>
        </p:spPr>
        <p:txBody>
          <a:bodyPr wrap="square" rtlCol="0" anchor="ctr"/>
          <a:lstStyle/>
          <a:p>
            <a:pPr marL="0" indent="0" algn="ctr">
              <a:buNone/>
            </a:pPr>
            <a:r>
              <a:rPr lang="en-US" sz="2200" b="1" dirty="0">
                <a:solidFill>
                  <a:srgbClr val="FFFFFF"/>
                </a:solidFill>
              </a:rPr>
              <a:t>SAR 1.2M</a:t>
            </a:r>
            <a:endParaRPr lang="en-US" sz="2200" dirty="0"/>
          </a:p>
        </p:txBody>
      </p:sp>
      <p:sp>
        <p:nvSpPr>
          <p:cNvPr id="13" name="Text 11"/>
          <p:cNvSpPr/>
          <p:nvPr/>
        </p:nvSpPr>
        <p:spPr>
          <a:xfrm>
            <a:off x="6309360" y="1481328"/>
            <a:ext cx="2514600" cy="438912"/>
          </a:xfrm>
          <a:prstGeom prst="rect">
            <a:avLst/>
          </a:prstGeom>
          <a:noFill/>
          <a:ln/>
        </p:spPr>
        <p:txBody>
          <a:bodyPr wrap="square" rtlCol="0" anchor="ctr"/>
          <a:lstStyle/>
          <a:p>
            <a:pPr marL="0" indent="0" algn="ctr">
              <a:buNone/>
            </a:pPr>
            <a:r>
              <a:rPr lang="en-US" sz="900" dirty="0">
                <a:solidFill>
                  <a:srgbClr val="A8C4E0"/>
                </a:solidFill>
              </a:rPr>
              <a:t>الإيرادات السنة ٣</a:t>
            </a:r>
            <a:endParaRPr lang="en-US" sz="900" dirty="0"/>
          </a:p>
          <a:p>
            <a:pPr marL="0" indent="0" algn="ctr">
              <a:buNone/>
            </a:pPr>
            <a:r>
              <a:rPr lang="en-US" sz="900" dirty="0">
                <a:solidFill>
                  <a:srgbClr val="A8C4E0"/>
                </a:solidFill>
              </a:rPr>
              <a:t>Year 3 Revenue</a:t>
            </a:r>
            <a:endParaRPr lang="en-US" sz="900" dirty="0"/>
          </a:p>
        </p:txBody>
      </p:sp>
      <p:graphicFrame>
        <p:nvGraphicFramePr>
          <p:cNvPr id="14" name="Chart 0"/>
          <p:cNvGraphicFramePr/>
          <p:nvPr/>
        </p:nvGraphicFramePr>
        <p:xfrm>
          <a:off x="320040" y="2176272"/>
          <a:ext cx="8503920" cy="26060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6B3A"/>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طلب التمويل  |  Funding Request</a:t>
            </a:r>
            <a:endParaRPr lang="en-US" sz="2000" dirty="0"/>
          </a:p>
        </p:txBody>
      </p:sp>
      <p:sp>
        <p:nvSpPr>
          <p:cNvPr id="5" name="Shape 3"/>
          <p:cNvSpPr/>
          <p:nvPr/>
        </p:nvSpPr>
        <p:spPr>
          <a:xfrm>
            <a:off x="320040" y="896112"/>
            <a:ext cx="8503920" cy="1115568"/>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20040" y="896112"/>
            <a:ext cx="8503920" cy="658368"/>
          </a:xfrm>
          <a:prstGeom prst="rect">
            <a:avLst/>
          </a:prstGeom>
          <a:noFill/>
          <a:ln/>
        </p:spPr>
        <p:txBody>
          <a:bodyPr wrap="square" rtlCol="0" anchor="ctr"/>
          <a:lstStyle/>
          <a:p>
            <a:pPr marL="0" indent="0" algn="ctr">
              <a:buNone/>
            </a:pPr>
            <a:r>
              <a:rPr lang="en-US" sz="4000" b="1" dirty="0">
                <a:solidFill>
                  <a:srgbClr val="C9A228"/>
                </a:solidFill>
              </a:rPr>
              <a:t>SAR 500,000</a:t>
            </a:r>
            <a:endParaRPr lang="en-US" sz="4000" dirty="0"/>
          </a:p>
        </p:txBody>
      </p:sp>
      <p:sp>
        <p:nvSpPr>
          <p:cNvPr id="7" name="Text 5"/>
          <p:cNvSpPr/>
          <p:nvPr/>
        </p:nvSpPr>
        <p:spPr>
          <a:xfrm>
            <a:off x="320040" y="1554480"/>
            <a:ext cx="8503920" cy="347472"/>
          </a:xfrm>
          <a:prstGeom prst="rect">
            <a:avLst/>
          </a:prstGeom>
          <a:noFill/>
          <a:ln/>
        </p:spPr>
        <p:txBody>
          <a:bodyPr wrap="square" rtlCol="0" anchor="ctr"/>
          <a:lstStyle/>
          <a:p>
            <a:pPr marL="0" indent="0" algn="ctr">
              <a:buNone/>
            </a:pPr>
            <a:r>
              <a:rPr lang="en-US" sz="1100" dirty="0">
                <a:solidFill>
                  <a:srgbClr val="A8C4E0"/>
                </a:solidFill>
              </a:rPr>
              <a:t>التمويل المطلوب من منشآت  |  Requested Seed Funding from Monshaat</a:t>
            </a:r>
            <a:endParaRPr lang="en-US" sz="1100" dirty="0"/>
          </a:p>
        </p:txBody>
      </p:sp>
      <p:graphicFrame>
        <p:nvGraphicFramePr>
          <p:cNvPr id="8" name="Chart 0"/>
          <p:cNvGraphicFramePr/>
          <p:nvPr/>
        </p:nvGraphicFramePr>
        <p:xfrm>
          <a:off x="320040" y="2148840"/>
          <a:ext cx="41148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4663440" y="2212848"/>
            <a:ext cx="4206240" cy="548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4663440" y="2212848"/>
            <a:ext cx="566928" cy="548640"/>
          </a:xfrm>
          <a:prstGeom prst="rect">
            <a:avLst/>
          </a:prstGeom>
          <a:solidFill>
            <a:srgbClr val="0B6B3A"/>
          </a:solidFill>
          <a:ln/>
        </p:spPr>
        <p:txBody>
          <a:bodyPr/>
          <a:lstStyle/>
          <a:p>
            <a:endParaRPr lang="en-US"/>
          </a:p>
        </p:txBody>
      </p:sp>
      <p:sp>
        <p:nvSpPr>
          <p:cNvPr id="11" name="Text 8"/>
          <p:cNvSpPr/>
          <p:nvPr/>
        </p:nvSpPr>
        <p:spPr>
          <a:xfrm>
            <a:off x="4663440" y="2212848"/>
            <a:ext cx="566928" cy="548640"/>
          </a:xfrm>
          <a:prstGeom prst="rect">
            <a:avLst/>
          </a:prstGeom>
          <a:noFill/>
          <a:ln/>
        </p:spPr>
        <p:txBody>
          <a:bodyPr wrap="square" rtlCol="0" anchor="ctr"/>
          <a:lstStyle/>
          <a:p>
            <a:pPr marL="0" indent="0" algn="ctr">
              <a:buNone/>
            </a:pPr>
            <a:r>
              <a:rPr lang="en-US" sz="1200" b="1" dirty="0">
                <a:solidFill>
                  <a:srgbClr val="FFFFFF"/>
                </a:solidFill>
              </a:rPr>
              <a:t>45%</a:t>
            </a:r>
            <a:endParaRPr lang="en-US" sz="1200" dirty="0"/>
          </a:p>
        </p:txBody>
      </p:sp>
      <p:sp>
        <p:nvSpPr>
          <p:cNvPr id="12" name="Text 9"/>
          <p:cNvSpPr/>
          <p:nvPr/>
        </p:nvSpPr>
        <p:spPr>
          <a:xfrm>
            <a:off x="5321808" y="2231136"/>
            <a:ext cx="3474720" cy="274320"/>
          </a:xfrm>
          <a:prstGeom prst="rect">
            <a:avLst/>
          </a:prstGeom>
          <a:noFill/>
          <a:ln/>
        </p:spPr>
        <p:txBody>
          <a:bodyPr wrap="square" rtlCol="0" anchor="ctr"/>
          <a:lstStyle/>
          <a:p>
            <a:pPr marL="0" indent="0" algn="l">
              <a:buNone/>
            </a:pPr>
            <a:r>
              <a:rPr lang="en-US" sz="950" b="1" dirty="0">
                <a:solidFill>
                  <a:srgbClr val="374151"/>
                </a:solidFill>
              </a:rPr>
              <a:t>تطوير المنصة التقنية والبنية التحتية</a:t>
            </a:r>
            <a:endParaRPr lang="en-US" sz="950" dirty="0"/>
          </a:p>
        </p:txBody>
      </p:sp>
      <p:sp>
        <p:nvSpPr>
          <p:cNvPr id="13" name="Text 10"/>
          <p:cNvSpPr/>
          <p:nvPr/>
        </p:nvSpPr>
        <p:spPr>
          <a:xfrm>
            <a:off x="5321808" y="2487168"/>
            <a:ext cx="3474720" cy="228600"/>
          </a:xfrm>
          <a:prstGeom prst="rect">
            <a:avLst/>
          </a:prstGeom>
          <a:noFill/>
          <a:ln/>
        </p:spPr>
        <p:txBody>
          <a:bodyPr wrap="square" rtlCol="0" anchor="ctr"/>
          <a:lstStyle/>
          <a:p>
            <a:pPr marL="0" indent="0" algn="l">
              <a:buNone/>
            </a:pPr>
            <a:r>
              <a:rPr lang="en-US" sz="850" dirty="0">
                <a:solidFill>
                  <a:srgbClr val="6B7280"/>
                </a:solidFill>
              </a:rPr>
              <a:t>Platform &amp; tech infrastructure dev</a:t>
            </a:r>
            <a:endParaRPr lang="en-US" sz="850" dirty="0"/>
          </a:p>
        </p:txBody>
      </p:sp>
      <p:sp>
        <p:nvSpPr>
          <p:cNvPr id="14" name="Shape 11"/>
          <p:cNvSpPr/>
          <p:nvPr/>
        </p:nvSpPr>
        <p:spPr>
          <a:xfrm>
            <a:off x="4663440" y="2834640"/>
            <a:ext cx="4206240" cy="548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5" name="Shape 12"/>
          <p:cNvSpPr/>
          <p:nvPr/>
        </p:nvSpPr>
        <p:spPr>
          <a:xfrm>
            <a:off x="4663440" y="2834640"/>
            <a:ext cx="566928" cy="548640"/>
          </a:xfrm>
          <a:prstGeom prst="rect">
            <a:avLst/>
          </a:prstGeom>
          <a:solidFill>
            <a:srgbClr val="C9A228"/>
          </a:solidFill>
          <a:ln/>
        </p:spPr>
        <p:txBody>
          <a:bodyPr/>
          <a:lstStyle/>
          <a:p>
            <a:endParaRPr lang="en-US"/>
          </a:p>
        </p:txBody>
      </p:sp>
      <p:sp>
        <p:nvSpPr>
          <p:cNvPr id="16" name="Text 13"/>
          <p:cNvSpPr/>
          <p:nvPr/>
        </p:nvSpPr>
        <p:spPr>
          <a:xfrm>
            <a:off x="4663440" y="2834640"/>
            <a:ext cx="566928" cy="548640"/>
          </a:xfrm>
          <a:prstGeom prst="rect">
            <a:avLst/>
          </a:prstGeom>
          <a:noFill/>
          <a:ln/>
        </p:spPr>
        <p:txBody>
          <a:bodyPr wrap="square" rtlCol="0" anchor="ctr"/>
          <a:lstStyle/>
          <a:p>
            <a:pPr marL="0" indent="0" algn="ctr">
              <a:buNone/>
            </a:pPr>
            <a:r>
              <a:rPr lang="en-US" sz="1200" b="1" dirty="0">
                <a:solidFill>
                  <a:srgbClr val="FFFFFF"/>
                </a:solidFill>
              </a:rPr>
              <a:t>25%</a:t>
            </a:r>
            <a:endParaRPr lang="en-US" sz="1200" dirty="0"/>
          </a:p>
        </p:txBody>
      </p:sp>
      <p:sp>
        <p:nvSpPr>
          <p:cNvPr id="17" name="Text 14"/>
          <p:cNvSpPr/>
          <p:nvPr/>
        </p:nvSpPr>
        <p:spPr>
          <a:xfrm>
            <a:off x="5321808" y="2852928"/>
            <a:ext cx="3474720" cy="274320"/>
          </a:xfrm>
          <a:prstGeom prst="rect">
            <a:avLst/>
          </a:prstGeom>
          <a:noFill/>
          <a:ln/>
        </p:spPr>
        <p:txBody>
          <a:bodyPr wrap="square" rtlCol="0" anchor="ctr"/>
          <a:lstStyle/>
          <a:p>
            <a:pPr marL="0" indent="0" algn="l">
              <a:buNone/>
            </a:pPr>
            <a:r>
              <a:rPr lang="en-US" sz="950" b="1" dirty="0">
                <a:solidFill>
                  <a:srgbClr val="374151"/>
                </a:solidFill>
              </a:rPr>
              <a:t>التسويق واكتساب العملاء</a:t>
            </a:r>
            <a:endParaRPr lang="en-US" sz="950" dirty="0"/>
          </a:p>
        </p:txBody>
      </p:sp>
      <p:sp>
        <p:nvSpPr>
          <p:cNvPr id="18" name="Text 15"/>
          <p:cNvSpPr/>
          <p:nvPr/>
        </p:nvSpPr>
        <p:spPr>
          <a:xfrm>
            <a:off x="5321808" y="3108960"/>
            <a:ext cx="3474720" cy="228600"/>
          </a:xfrm>
          <a:prstGeom prst="rect">
            <a:avLst/>
          </a:prstGeom>
          <a:noFill/>
          <a:ln/>
        </p:spPr>
        <p:txBody>
          <a:bodyPr wrap="square" rtlCol="0" anchor="ctr"/>
          <a:lstStyle/>
          <a:p>
            <a:pPr marL="0" indent="0" algn="l">
              <a:buNone/>
            </a:pPr>
            <a:r>
              <a:rPr lang="en-US" sz="850" dirty="0">
                <a:solidFill>
                  <a:srgbClr val="6B7280"/>
                </a:solidFill>
              </a:rPr>
              <a:t>Marketing &amp; customer acquisition</a:t>
            </a:r>
            <a:endParaRPr lang="en-US" sz="850" dirty="0"/>
          </a:p>
        </p:txBody>
      </p:sp>
      <p:sp>
        <p:nvSpPr>
          <p:cNvPr id="19" name="Shape 16"/>
          <p:cNvSpPr/>
          <p:nvPr/>
        </p:nvSpPr>
        <p:spPr>
          <a:xfrm>
            <a:off x="4663440" y="3456432"/>
            <a:ext cx="4206240" cy="548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0" name="Shape 17"/>
          <p:cNvSpPr/>
          <p:nvPr/>
        </p:nvSpPr>
        <p:spPr>
          <a:xfrm>
            <a:off x="4663440" y="3456432"/>
            <a:ext cx="566928" cy="548640"/>
          </a:xfrm>
          <a:prstGeom prst="rect">
            <a:avLst/>
          </a:prstGeom>
          <a:solidFill>
            <a:srgbClr val="0D1F3C"/>
          </a:solidFill>
          <a:ln/>
        </p:spPr>
        <p:txBody>
          <a:bodyPr/>
          <a:lstStyle/>
          <a:p>
            <a:endParaRPr lang="en-US"/>
          </a:p>
        </p:txBody>
      </p:sp>
      <p:sp>
        <p:nvSpPr>
          <p:cNvPr id="21" name="Text 18"/>
          <p:cNvSpPr/>
          <p:nvPr/>
        </p:nvSpPr>
        <p:spPr>
          <a:xfrm>
            <a:off x="4663440" y="3456432"/>
            <a:ext cx="566928" cy="548640"/>
          </a:xfrm>
          <a:prstGeom prst="rect">
            <a:avLst/>
          </a:prstGeom>
          <a:noFill/>
          <a:ln/>
        </p:spPr>
        <p:txBody>
          <a:bodyPr wrap="square" rtlCol="0" anchor="ctr"/>
          <a:lstStyle/>
          <a:p>
            <a:pPr marL="0" indent="0" algn="ctr">
              <a:buNone/>
            </a:pPr>
            <a:r>
              <a:rPr lang="en-US" sz="1200" b="1" dirty="0">
                <a:solidFill>
                  <a:srgbClr val="FFFFFF"/>
                </a:solidFill>
              </a:rPr>
              <a:t>20%</a:t>
            </a:r>
            <a:endParaRPr lang="en-US" sz="1200" dirty="0"/>
          </a:p>
        </p:txBody>
      </p:sp>
      <p:sp>
        <p:nvSpPr>
          <p:cNvPr id="22" name="Text 19"/>
          <p:cNvSpPr/>
          <p:nvPr/>
        </p:nvSpPr>
        <p:spPr>
          <a:xfrm>
            <a:off x="5321808" y="3474720"/>
            <a:ext cx="3474720" cy="274320"/>
          </a:xfrm>
          <a:prstGeom prst="rect">
            <a:avLst/>
          </a:prstGeom>
          <a:noFill/>
          <a:ln/>
        </p:spPr>
        <p:txBody>
          <a:bodyPr wrap="square" rtlCol="0" anchor="ctr"/>
          <a:lstStyle/>
          <a:p>
            <a:pPr marL="0" indent="0" algn="l">
              <a:buNone/>
            </a:pPr>
            <a:r>
              <a:rPr lang="en-US" sz="950" b="1" dirty="0">
                <a:solidFill>
                  <a:srgbClr val="374151"/>
                </a:solidFill>
              </a:rPr>
              <a:t>التشغيل والموارد البشرية</a:t>
            </a:r>
            <a:endParaRPr lang="en-US" sz="950" dirty="0"/>
          </a:p>
        </p:txBody>
      </p:sp>
      <p:sp>
        <p:nvSpPr>
          <p:cNvPr id="23" name="Text 20"/>
          <p:cNvSpPr/>
          <p:nvPr/>
        </p:nvSpPr>
        <p:spPr>
          <a:xfrm>
            <a:off x="5321808" y="3730752"/>
            <a:ext cx="3474720" cy="228600"/>
          </a:xfrm>
          <a:prstGeom prst="rect">
            <a:avLst/>
          </a:prstGeom>
          <a:noFill/>
          <a:ln/>
        </p:spPr>
        <p:txBody>
          <a:bodyPr wrap="square" rtlCol="0" anchor="ctr"/>
          <a:lstStyle/>
          <a:p>
            <a:pPr marL="0" indent="0" algn="l">
              <a:buNone/>
            </a:pPr>
            <a:r>
              <a:rPr lang="en-US" sz="850" dirty="0">
                <a:solidFill>
                  <a:srgbClr val="6B7280"/>
                </a:solidFill>
              </a:rPr>
              <a:t>Operations &amp; HR</a:t>
            </a:r>
            <a:endParaRPr lang="en-US" sz="850" dirty="0"/>
          </a:p>
        </p:txBody>
      </p:sp>
      <p:sp>
        <p:nvSpPr>
          <p:cNvPr id="24" name="Shape 21"/>
          <p:cNvSpPr/>
          <p:nvPr/>
        </p:nvSpPr>
        <p:spPr>
          <a:xfrm>
            <a:off x="4663440" y="4078224"/>
            <a:ext cx="4206240" cy="548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5" name="Shape 22"/>
          <p:cNvSpPr/>
          <p:nvPr/>
        </p:nvSpPr>
        <p:spPr>
          <a:xfrm>
            <a:off x="4663440" y="4078224"/>
            <a:ext cx="566928" cy="548640"/>
          </a:xfrm>
          <a:prstGeom prst="rect">
            <a:avLst/>
          </a:prstGeom>
          <a:solidFill>
            <a:srgbClr val="6B7280"/>
          </a:solidFill>
          <a:ln/>
        </p:spPr>
        <p:txBody>
          <a:bodyPr/>
          <a:lstStyle/>
          <a:p>
            <a:endParaRPr lang="en-US"/>
          </a:p>
        </p:txBody>
      </p:sp>
      <p:sp>
        <p:nvSpPr>
          <p:cNvPr id="26" name="Text 23"/>
          <p:cNvSpPr/>
          <p:nvPr/>
        </p:nvSpPr>
        <p:spPr>
          <a:xfrm>
            <a:off x="4663440" y="4078224"/>
            <a:ext cx="566928" cy="548640"/>
          </a:xfrm>
          <a:prstGeom prst="rect">
            <a:avLst/>
          </a:prstGeom>
          <a:noFill/>
          <a:ln/>
        </p:spPr>
        <p:txBody>
          <a:bodyPr wrap="square" rtlCol="0" anchor="ctr"/>
          <a:lstStyle/>
          <a:p>
            <a:pPr marL="0" indent="0" algn="ctr">
              <a:buNone/>
            </a:pPr>
            <a:r>
              <a:rPr lang="en-US" sz="1200" b="1" dirty="0">
                <a:solidFill>
                  <a:srgbClr val="FFFFFF"/>
                </a:solidFill>
              </a:rPr>
              <a:t>10%</a:t>
            </a:r>
            <a:endParaRPr lang="en-US" sz="1200" dirty="0"/>
          </a:p>
        </p:txBody>
      </p:sp>
      <p:sp>
        <p:nvSpPr>
          <p:cNvPr id="27" name="Text 24"/>
          <p:cNvSpPr/>
          <p:nvPr/>
        </p:nvSpPr>
        <p:spPr>
          <a:xfrm>
            <a:off x="5321808" y="4096512"/>
            <a:ext cx="3474720" cy="274320"/>
          </a:xfrm>
          <a:prstGeom prst="rect">
            <a:avLst/>
          </a:prstGeom>
          <a:noFill/>
          <a:ln/>
        </p:spPr>
        <p:txBody>
          <a:bodyPr wrap="square" rtlCol="0" anchor="ctr"/>
          <a:lstStyle/>
          <a:p>
            <a:pPr marL="0" indent="0" algn="l">
              <a:buNone/>
            </a:pPr>
            <a:r>
              <a:rPr lang="en-US" sz="950" b="1" dirty="0">
                <a:solidFill>
                  <a:srgbClr val="374151"/>
                </a:solidFill>
              </a:rPr>
              <a:t>احتياطي وطوارئ</a:t>
            </a:r>
            <a:endParaRPr lang="en-US" sz="950" dirty="0"/>
          </a:p>
        </p:txBody>
      </p:sp>
      <p:sp>
        <p:nvSpPr>
          <p:cNvPr id="28" name="Text 25"/>
          <p:cNvSpPr/>
          <p:nvPr/>
        </p:nvSpPr>
        <p:spPr>
          <a:xfrm>
            <a:off x="5321808" y="4352544"/>
            <a:ext cx="3474720" cy="228600"/>
          </a:xfrm>
          <a:prstGeom prst="rect">
            <a:avLst/>
          </a:prstGeom>
          <a:noFill/>
          <a:ln/>
        </p:spPr>
        <p:txBody>
          <a:bodyPr wrap="square" rtlCol="0" anchor="ctr"/>
          <a:lstStyle/>
          <a:p>
            <a:pPr marL="0" indent="0" algn="l">
              <a:buNone/>
            </a:pPr>
            <a:r>
              <a:rPr lang="en-US" sz="850" dirty="0">
                <a:solidFill>
                  <a:srgbClr val="6B7280"/>
                </a:solidFill>
              </a:rPr>
              <a:t>Reserve &amp; contingency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p:spPr>
        <p:txBody>
          <a:bodyPr/>
          <a:lstStyle/>
          <a:p>
            <a:endParaRPr lang="en-US"/>
          </a:p>
        </p:txBody>
      </p:sp>
      <p:sp>
        <p:nvSpPr>
          <p:cNvPr id="3" name="Shape 1"/>
          <p:cNvSpPr/>
          <p:nvPr/>
        </p:nvSpPr>
        <p:spPr>
          <a:xfrm>
            <a:off x="0" y="685800"/>
            <a:ext cx="9144000" cy="64008"/>
          </a:xfrm>
          <a:prstGeom prst="rect">
            <a:avLst/>
          </a:prstGeom>
          <a:solidFill>
            <a:srgbClr val="C9A228"/>
          </a:solidFill>
          <a:ln/>
        </p:spPr>
        <p:txBody>
          <a:bodyPr/>
          <a:lstStyle/>
          <a:p>
            <a:endParaRPr lang="en-US"/>
          </a:p>
        </p:txBody>
      </p:sp>
      <p:sp>
        <p:nvSpPr>
          <p:cNvPr id="4" name="Text 2"/>
          <p:cNvSpPr/>
          <p:nvPr/>
        </p:nvSpPr>
        <p:spPr>
          <a:xfrm>
            <a:off x="365760" y="0"/>
            <a:ext cx="8229600" cy="685800"/>
          </a:xfrm>
          <a:prstGeom prst="rect">
            <a:avLst/>
          </a:prstGeom>
          <a:noFill/>
          <a:ln/>
        </p:spPr>
        <p:txBody>
          <a:bodyPr wrap="square" rtlCol="0" anchor="ctr"/>
          <a:lstStyle/>
          <a:p>
            <a:pPr marL="0" indent="0" algn="ctr">
              <a:buNone/>
            </a:pPr>
            <a:r>
              <a:rPr lang="en-US" sz="2000" b="1" dirty="0">
                <a:solidFill>
                  <a:srgbClr val="FFFFFF"/>
                </a:solidFill>
              </a:rPr>
              <a:t>التوافق مع رؤية ٢٠٣٠  |  Vision 2030 Alignment</a:t>
            </a:r>
            <a:endParaRPr lang="en-US" sz="2000" dirty="0"/>
          </a:p>
        </p:txBody>
      </p:sp>
      <p:sp>
        <p:nvSpPr>
          <p:cNvPr id="5" name="Shape 3"/>
          <p:cNvSpPr/>
          <p:nvPr/>
        </p:nvSpPr>
        <p:spPr>
          <a:xfrm>
            <a:off x="274320" y="896112"/>
            <a:ext cx="4069080" cy="3913632"/>
          </a:xfrm>
          <a:prstGeom prst="rect">
            <a:avLst/>
          </a:prstGeom>
          <a:solidFill>
            <a:srgbClr val="0D1F3C"/>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365760" y="960120"/>
            <a:ext cx="3886200" cy="502920"/>
          </a:xfrm>
          <a:prstGeom prst="rect">
            <a:avLst/>
          </a:prstGeom>
          <a:noFill/>
          <a:ln/>
        </p:spPr>
        <p:txBody>
          <a:bodyPr wrap="square" rtlCol="0" anchor="ctr"/>
          <a:lstStyle/>
          <a:p>
            <a:pPr marL="0" indent="0" algn="ctr">
              <a:buNone/>
            </a:pPr>
            <a:r>
              <a:rPr lang="en-US" sz="1400" b="1" dirty="0">
                <a:solidFill>
                  <a:srgbClr val="C9A228"/>
                </a:solidFill>
              </a:rPr>
              <a:t>رؤية المملكة ٢٠٣٠</a:t>
            </a:r>
            <a:endParaRPr lang="en-US" sz="1400" dirty="0"/>
          </a:p>
          <a:p>
            <a:pPr marL="0" indent="0" algn="ctr">
              <a:buNone/>
            </a:pPr>
            <a:r>
              <a:rPr lang="en-US" sz="1400" b="1" dirty="0">
                <a:solidFill>
                  <a:srgbClr val="C9A228"/>
                </a:solidFill>
              </a:rPr>
              <a:t>Saudi Vision 2030</a:t>
            </a:r>
            <a:endParaRPr lang="en-US" sz="1400" dirty="0"/>
          </a:p>
        </p:txBody>
      </p:sp>
      <p:sp>
        <p:nvSpPr>
          <p:cNvPr id="7" name="Shape 5"/>
          <p:cNvSpPr/>
          <p:nvPr/>
        </p:nvSpPr>
        <p:spPr>
          <a:xfrm>
            <a:off x="457200" y="1572768"/>
            <a:ext cx="3703320" cy="658368"/>
          </a:xfrm>
          <a:prstGeom prst="rect">
            <a:avLst/>
          </a:prstGeom>
          <a:solidFill>
            <a:srgbClr val="0B2D54"/>
          </a:solidFill>
          <a:ln/>
        </p:spPr>
        <p:txBody>
          <a:bodyPr/>
          <a:lstStyle/>
          <a:p>
            <a:endParaRPr lang="en-US"/>
          </a:p>
        </p:txBody>
      </p:sp>
      <p:sp>
        <p:nvSpPr>
          <p:cNvPr id="8" name="Shape 6"/>
          <p:cNvSpPr/>
          <p:nvPr/>
        </p:nvSpPr>
        <p:spPr>
          <a:xfrm>
            <a:off x="457200" y="1572768"/>
            <a:ext cx="91440" cy="658368"/>
          </a:xfrm>
          <a:prstGeom prst="rect">
            <a:avLst/>
          </a:prstGeom>
          <a:solidFill>
            <a:srgbClr val="C9A228"/>
          </a:solidFill>
          <a:ln/>
        </p:spPr>
        <p:txBody>
          <a:bodyPr/>
          <a:lstStyle/>
          <a:p>
            <a:endParaRPr lang="en-US"/>
          </a:p>
        </p:txBody>
      </p:sp>
      <p:sp>
        <p:nvSpPr>
          <p:cNvPr id="9" name="Text 7"/>
          <p:cNvSpPr/>
          <p:nvPr/>
        </p:nvSpPr>
        <p:spPr>
          <a:xfrm>
            <a:off x="640080" y="1664208"/>
            <a:ext cx="3429000" cy="457200"/>
          </a:xfrm>
          <a:prstGeom prst="rect">
            <a:avLst/>
          </a:prstGeom>
          <a:noFill/>
          <a:ln/>
        </p:spPr>
        <p:txBody>
          <a:bodyPr wrap="square" rtlCol="0" anchor="ctr"/>
          <a:lstStyle/>
          <a:p>
            <a:pPr marL="0" indent="0" algn="ctr">
              <a:buNone/>
            </a:pPr>
            <a:r>
              <a:rPr lang="en-US" sz="1200" b="1" dirty="0">
                <a:solidFill>
                  <a:srgbClr val="FFFFFF"/>
                </a:solidFill>
              </a:rPr>
              <a:t>مجتمع حيوي  /  Vibrant Society</a:t>
            </a:r>
            <a:endParaRPr lang="en-US" sz="1200" dirty="0"/>
          </a:p>
        </p:txBody>
      </p:sp>
      <p:sp>
        <p:nvSpPr>
          <p:cNvPr id="10" name="Shape 8"/>
          <p:cNvSpPr/>
          <p:nvPr/>
        </p:nvSpPr>
        <p:spPr>
          <a:xfrm>
            <a:off x="457200" y="2377440"/>
            <a:ext cx="3703320" cy="658368"/>
          </a:xfrm>
          <a:prstGeom prst="rect">
            <a:avLst/>
          </a:prstGeom>
          <a:solidFill>
            <a:srgbClr val="0B2D54"/>
          </a:solidFill>
          <a:ln/>
        </p:spPr>
        <p:txBody>
          <a:bodyPr/>
          <a:lstStyle/>
          <a:p>
            <a:endParaRPr lang="en-US"/>
          </a:p>
        </p:txBody>
      </p:sp>
      <p:sp>
        <p:nvSpPr>
          <p:cNvPr id="11" name="Shape 9"/>
          <p:cNvSpPr/>
          <p:nvPr/>
        </p:nvSpPr>
        <p:spPr>
          <a:xfrm>
            <a:off x="457200" y="2377440"/>
            <a:ext cx="91440" cy="658368"/>
          </a:xfrm>
          <a:prstGeom prst="rect">
            <a:avLst/>
          </a:prstGeom>
          <a:solidFill>
            <a:srgbClr val="C9A228"/>
          </a:solidFill>
          <a:ln/>
        </p:spPr>
        <p:txBody>
          <a:bodyPr/>
          <a:lstStyle/>
          <a:p>
            <a:endParaRPr lang="en-US"/>
          </a:p>
        </p:txBody>
      </p:sp>
      <p:sp>
        <p:nvSpPr>
          <p:cNvPr id="12" name="Text 10"/>
          <p:cNvSpPr/>
          <p:nvPr/>
        </p:nvSpPr>
        <p:spPr>
          <a:xfrm>
            <a:off x="640080" y="2468880"/>
            <a:ext cx="3429000" cy="457200"/>
          </a:xfrm>
          <a:prstGeom prst="rect">
            <a:avLst/>
          </a:prstGeom>
          <a:noFill/>
          <a:ln/>
        </p:spPr>
        <p:txBody>
          <a:bodyPr wrap="square" rtlCol="0" anchor="ctr"/>
          <a:lstStyle/>
          <a:p>
            <a:pPr marL="0" indent="0" algn="ctr">
              <a:buNone/>
            </a:pPr>
            <a:r>
              <a:rPr lang="en-US" sz="1200" b="1" dirty="0">
                <a:solidFill>
                  <a:srgbClr val="FFFFFF"/>
                </a:solidFill>
              </a:rPr>
              <a:t>اقتصاد مزدهر  /  Thriving Economy</a:t>
            </a:r>
            <a:endParaRPr lang="en-US" sz="1200" dirty="0"/>
          </a:p>
        </p:txBody>
      </p:sp>
      <p:sp>
        <p:nvSpPr>
          <p:cNvPr id="13" name="Shape 11"/>
          <p:cNvSpPr/>
          <p:nvPr/>
        </p:nvSpPr>
        <p:spPr>
          <a:xfrm>
            <a:off x="457200" y="3182112"/>
            <a:ext cx="3703320" cy="658368"/>
          </a:xfrm>
          <a:prstGeom prst="rect">
            <a:avLst/>
          </a:prstGeom>
          <a:solidFill>
            <a:srgbClr val="0B2D54"/>
          </a:solidFill>
          <a:ln/>
        </p:spPr>
        <p:txBody>
          <a:bodyPr/>
          <a:lstStyle/>
          <a:p>
            <a:endParaRPr lang="en-US"/>
          </a:p>
        </p:txBody>
      </p:sp>
      <p:sp>
        <p:nvSpPr>
          <p:cNvPr id="14" name="Shape 12"/>
          <p:cNvSpPr/>
          <p:nvPr/>
        </p:nvSpPr>
        <p:spPr>
          <a:xfrm>
            <a:off x="457200" y="3182112"/>
            <a:ext cx="91440" cy="658368"/>
          </a:xfrm>
          <a:prstGeom prst="rect">
            <a:avLst/>
          </a:prstGeom>
          <a:solidFill>
            <a:srgbClr val="C9A228"/>
          </a:solidFill>
          <a:ln/>
        </p:spPr>
        <p:txBody>
          <a:bodyPr/>
          <a:lstStyle/>
          <a:p>
            <a:endParaRPr lang="en-US"/>
          </a:p>
        </p:txBody>
      </p:sp>
      <p:sp>
        <p:nvSpPr>
          <p:cNvPr id="15" name="Text 13"/>
          <p:cNvSpPr/>
          <p:nvPr/>
        </p:nvSpPr>
        <p:spPr>
          <a:xfrm>
            <a:off x="640080" y="3273552"/>
            <a:ext cx="3429000" cy="457200"/>
          </a:xfrm>
          <a:prstGeom prst="rect">
            <a:avLst/>
          </a:prstGeom>
          <a:noFill/>
          <a:ln/>
        </p:spPr>
        <p:txBody>
          <a:bodyPr wrap="square" rtlCol="0" anchor="ctr"/>
          <a:lstStyle/>
          <a:p>
            <a:pPr marL="0" indent="0" algn="ctr">
              <a:buNone/>
            </a:pPr>
            <a:r>
              <a:rPr lang="en-US" sz="1200" b="1" dirty="0">
                <a:solidFill>
                  <a:srgbClr val="FFFFFF"/>
                </a:solidFill>
              </a:rPr>
              <a:t>وطن طموح  /  Ambitious Nation</a:t>
            </a:r>
            <a:endParaRPr lang="en-US" sz="1200" dirty="0"/>
          </a:p>
        </p:txBody>
      </p:sp>
      <p:sp>
        <p:nvSpPr>
          <p:cNvPr id="16" name="Shape 14"/>
          <p:cNvSpPr/>
          <p:nvPr/>
        </p:nvSpPr>
        <p:spPr>
          <a:xfrm>
            <a:off x="4526280" y="896112"/>
            <a:ext cx="4343400" cy="39136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4617720" y="960120"/>
            <a:ext cx="4160520" cy="502920"/>
          </a:xfrm>
          <a:prstGeom prst="rect">
            <a:avLst/>
          </a:prstGeom>
          <a:noFill/>
          <a:ln/>
        </p:spPr>
        <p:txBody>
          <a:bodyPr wrap="square" rtlCol="0" anchor="ctr"/>
          <a:lstStyle/>
          <a:p>
            <a:pPr marL="0" indent="0" algn="ctr">
              <a:buNone/>
            </a:pPr>
            <a:r>
              <a:rPr lang="en-US" sz="1200" b="1" dirty="0">
                <a:solidFill>
                  <a:srgbClr val="0B6B3A"/>
                </a:solidFill>
              </a:rPr>
              <a:t>كيف يساهم مشروعنا؟</a:t>
            </a:r>
            <a:endParaRPr lang="en-US" sz="1200" dirty="0"/>
          </a:p>
          <a:p>
            <a:pPr marL="0" indent="0" algn="ctr">
              <a:buNone/>
            </a:pPr>
            <a:r>
              <a:rPr lang="en-US" sz="1200" b="1" dirty="0">
                <a:solidFill>
                  <a:srgbClr val="0B6B3A"/>
                </a:solidFill>
              </a:rPr>
              <a:t>How Our Project Contributes:</a:t>
            </a:r>
            <a:endParaRPr lang="en-US" sz="1200" dirty="0"/>
          </a:p>
        </p:txBody>
      </p:sp>
      <p:sp>
        <p:nvSpPr>
          <p:cNvPr id="18" name="Shape 16"/>
          <p:cNvSpPr/>
          <p:nvPr/>
        </p:nvSpPr>
        <p:spPr>
          <a:xfrm>
            <a:off x="4645152" y="1645920"/>
            <a:ext cx="54864" cy="457200"/>
          </a:xfrm>
          <a:prstGeom prst="rect">
            <a:avLst/>
          </a:prstGeom>
          <a:solidFill>
            <a:srgbClr val="0B6B3A"/>
          </a:solidFill>
          <a:ln/>
        </p:spPr>
        <p:txBody>
          <a:bodyPr/>
          <a:lstStyle/>
          <a:p>
            <a:endParaRPr lang="en-US"/>
          </a:p>
        </p:txBody>
      </p:sp>
      <p:sp>
        <p:nvSpPr>
          <p:cNvPr id="19" name="Text 17"/>
          <p:cNvSpPr/>
          <p:nvPr/>
        </p:nvSpPr>
        <p:spPr>
          <a:xfrm>
            <a:off x="4773168" y="1609344"/>
            <a:ext cx="4005072" cy="274320"/>
          </a:xfrm>
          <a:prstGeom prst="rect">
            <a:avLst/>
          </a:prstGeom>
          <a:noFill/>
          <a:ln/>
        </p:spPr>
        <p:txBody>
          <a:bodyPr wrap="square" rtlCol="0" anchor="ctr"/>
          <a:lstStyle/>
          <a:p>
            <a:pPr marL="0" indent="0" algn="l">
              <a:buNone/>
            </a:pPr>
            <a:r>
              <a:rPr lang="en-US" sz="950" b="1" dirty="0">
                <a:solidFill>
                  <a:srgbClr val="374151"/>
                </a:solidFill>
              </a:rPr>
              <a:t>توظيف شباب سعودي متخصص في التقنية</a:t>
            </a:r>
            <a:endParaRPr lang="en-US" sz="950" dirty="0"/>
          </a:p>
        </p:txBody>
      </p:sp>
      <p:sp>
        <p:nvSpPr>
          <p:cNvPr id="20" name="Text 18"/>
          <p:cNvSpPr/>
          <p:nvPr/>
        </p:nvSpPr>
        <p:spPr>
          <a:xfrm>
            <a:off x="4773168" y="1883664"/>
            <a:ext cx="4005072" cy="256032"/>
          </a:xfrm>
          <a:prstGeom prst="rect">
            <a:avLst/>
          </a:prstGeom>
          <a:noFill/>
          <a:ln/>
        </p:spPr>
        <p:txBody>
          <a:bodyPr wrap="square" rtlCol="0" anchor="ctr"/>
          <a:lstStyle/>
          <a:p>
            <a:pPr marL="0" indent="0" algn="l">
              <a:buNone/>
            </a:pPr>
            <a:r>
              <a:rPr lang="en-US" sz="850" dirty="0">
                <a:solidFill>
                  <a:srgbClr val="6B7280"/>
                </a:solidFill>
              </a:rPr>
              <a:t>Creating tech jobs for Saudi youth</a:t>
            </a:r>
            <a:endParaRPr lang="en-US" sz="850" dirty="0"/>
          </a:p>
        </p:txBody>
      </p:sp>
      <p:sp>
        <p:nvSpPr>
          <p:cNvPr id="21" name="Shape 19"/>
          <p:cNvSpPr/>
          <p:nvPr/>
        </p:nvSpPr>
        <p:spPr>
          <a:xfrm>
            <a:off x="4645152" y="2267712"/>
            <a:ext cx="54864" cy="457200"/>
          </a:xfrm>
          <a:prstGeom prst="rect">
            <a:avLst/>
          </a:prstGeom>
          <a:solidFill>
            <a:srgbClr val="0B6B3A"/>
          </a:solidFill>
          <a:ln/>
        </p:spPr>
        <p:txBody>
          <a:bodyPr/>
          <a:lstStyle/>
          <a:p>
            <a:endParaRPr lang="en-US"/>
          </a:p>
        </p:txBody>
      </p:sp>
      <p:sp>
        <p:nvSpPr>
          <p:cNvPr id="22" name="Text 20"/>
          <p:cNvSpPr/>
          <p:nvPr/>
        </p:nvSpPr>
        <p:spPr>
          <a:xfrm>
            <a:off x="4773168" y="2231136"/>
            <a:ext cx="4005072" cy="274320"/>
          </a:xfrm>
          <a:prstGeom prst="rect">
            <a:avLst/>
          </a:prstGeom>
          <a:noFill/>
          <a:ln/>
        </p:spPr>
        <p:txBody>
          <a:bodyPr wrap="square" rtlCol="0" anchor="ctr"/>
          <a:lstStyle/>
          <a:p>
            <a:pPr marL="0" indent="0" algn="l">
              <a:buNone/>
            </a:pPr>
            <a:r>
              <a:rPr lang="en-US" sz="950" b="1" dirty="0">
                <a:solidFill>
                  <a:srgbClr val="374151"/>
                </a:solidFill>
              </a:rPr>
              <a:t>رقمنة الخدمات المحلية وتطوير الاقتصاد الرقمي</a:t>
            </a:r>
            <a:endParaRPr lang="en-US" sz="950" dirty="0"/>
          </a:p>
        </p:txBody>
      </p:sp>
      <p:sp>
        <p:nvSpPr>
          <p:cNvPr id="23" name="Text 21"/>
          <p:cNvSpPr/>
          <p:nvPr/>
        </p:nvSpPr>
        <p:spPr>
          <a:xfrm>
            <a:off x="4773168" y="2505456"/>
            <a:ext cx="4005072" cy="256032"/>
          </a:xfrm>
          <a:prstGeom prst="rect">
            <a:avLst/>
          </a:prstGeom>
          <a:noFill/>
          <a:ln/>
        </p:spPr>
        <p:txBody>
          <a:bodyPr wrap="square" rtlCol="0" anchor="ctr"/>
          <a:lstStyle/>
          <a:p>
            <a:pPr marL="0" indent="0" algn="l">
              <a:buNone/>
            </a:pPr>
            <a:r>
              <a:rPr lang="en-US" sz="850" dirty="0">
                <a:solidFill>
                  <a:srgbClr val="6B7280"/>
                </a:solidFill>
              </a:rPr>
              <a:t>Digitalizing local services &amp; driving digital economy</a:t>
            </a:r>
            <a:endParaRPr lang="en-US" sz="850" dirty="0"/>
          </a:p>
        </p:txBody>
      </p:sp>
      <p:sp>
        <p:nvSpPr>
          <p:cNvPr id="24" name="Shape 22"/>
          <p:cNvSpPr/>
          <p:nvPr/>
        </p:nvSpPr>
        <p:spPr>
          <a:xfrm>
            <a:off x="4645152" y="2889504"/>
            <a:ext cx="54864" cy="457200"/>
          </a:xfrm>
          <a:prstGeom prst="rect">
            <a:avLst/>
          </a:prstGeom>
          <a:solidFill>
            <a:srgbClr val="0B6B3A"/>
          </a:solidFill>
          <a:ln/>
        </p:spPr>
        <p:txBody>
          <a:bodyPr/>
          <a:lstStyle/>
          <a:p>
            <a:endParaRPr lang="en-US"/>
          </a:p>
        </p:txBody>
      </p:sp>
      <p:sp>
        <p:nvSpPr>
          <p:cNvPr id="25" name="Text 23"/>
          <p:cNvSpPr/>
          <p:nvPr/>
        </p:nvSpPr>
        <p:spPr>
          <a:xfrm>
            <a:off x="4773168" y="2852928"/>
            <a:ext cx="4005072" cy="274320"/>
          </a:xfrm>
          <a:prstGeom prst="rect">
            <a:avLst/>
          </a:prstGeom>
          <a:noFill/>
          <a:ln/>
        </p:spPr>
        <p:txBody>
          <a:bodyPr wrap="square" rtlCol="0" anchor="ctr"/>
          <a:lstStyle/>
          <a:p>
            <a:pPr marL="0" indent="0" algn="l">
              <a:buNone/>
            </a:pPr>
            <a:r>
              <a:rPr lang="en-US" sz="950" b="1" dirty="0">
                <a:solidFill>
                  <a:srgbClr val="374151"/>
                </a:solidFill>
              </a:rPr>
              <a:t>دعم ريادة الأعمال والابتكار السعودي</a:t>
            </a:r>
            <a:endParaRPr lang="en-US" sz="950" dirty="0"/>
          </a:p>
        </p:txBody>
      </p:sp>
      <p:sp>
        <p:nvSpPr>
          <p:cNvPr id="26" name="Text 24"/>
          <p:cNvSpPr/>
          <p:nvPr/>
        </p:nvSpPr>
        <p:spPr>
          <a:xfrm>
            <a:off x="4773168" y="3127248"/>
            <a:ext cx="4005072" cy="256032"/>
          </a:xfrm>
          <a:prstGeom prst="rect">
            <a:avLst/>
          </a:prstGeom>
          <a:noFill/>
          <a:ln/>
        </p:spPr>
        <p:txBody>
          <a:bodyPr wrap="square" rtlCol="0" anchor="ctr"/>
          <a:lstStyle/>
          <a:p>
            <a:pPr marL="0" indent="0" algn="l">
              <a:buNone/>
            </a:pPr>
            <a:r>
              <a:rPr lang="en-US" sz="850" dirty="0">
                <a:solidFill>
                  <a:srgbClr val="6B7280"/>
                </a:solidFill>
              </a:rPr>
              <a:t>Supporting Saudi entrepreneurship &amp; innovation</a:t>
            </a:r>
            <a:endParaRPr lang="en-US" sz="850" dirty="0"/>
          </a:p>
        </p:txBody>
      </p:sp>
      <p:sp>
        <p:nvSpPr>
          <p:cNvPr id="27" name="Shape 25"/>
          <p:cNvSpPr/>
          <p:nvPr/>
        </p:nvSpPr>
        <p:spPr>
          <a:xfrm>
            <a:off x="4645152" y="3511296"/>
            <a:ext cx="54864" cy="457200"/>
          </a:xfrm>
          <a:prstGeom prst="rect">
            <a:avLst/>
          </a:prstGeom>
          <a:solidFill>
            <a:srgbClr val="0B6B3A"/>
          </a:solidFill>
          <a:ln/>
        </p:spPr>
        <p:txBody>
          <a:bodyPr/>
          <a:lstStyle/>
          <a:p>
            <a:endParaRPr lang="en-US"/>
          </a:p>
        </p:txBody>
      </p:sp>
      <p:sp>
        <p:nvSpPr>
          <p:cNvPr id="28" name="Text 26"/>
          <p:cNvSpPr/>
          <p:nvPr/>
        </p:nvSpPr>
        <p:spPr>
          <a:xfrm>
            <a:off x="4773168" y="3474720"/>
            <a:ext cx="4005072" cy="274320"/>
          </a:xfrm>
          <a:prstGeom prst="rect">
            <a:avLst/>
          </a:prstGeom>
          <a:noFill/>
          <a:ln/>
        </p:spPr>
        <p:txBody>
          <a:bodyPr wrap="square" rtlCol="0" anchor="ctr"/>
          <a:lstStyle/>
          <a:p>
            <a:pPr marL="0" indent="0" algn="l">
              <a:buNone/>
            </a:pPr>
            <a:r>
              <a:rPr lang="en-US" sz="950" b="1" dirty="0">
                <a:solidFill>
                  <a:srgbClr val="374151"/>
                </a:solidFill>
              </a:rPr>
              <a:t>تقليل الاعتماد على الحلول الأجنبية</a:t>
            </a:r>
            <a:endParaRPr lang="en-US" sz="950" dirty="0"/>
          </a:p>
        </p:txBody>
      </p:sp>
      <p:sp>
        <p:nvSpPr>
          <p:cNvPr id="29" name="Text 27"/>
          <p:cNvSpPr/>
          <p:nvPr/>
        </p:nvSpPr>
        <p:spPr>
          <a:xfrm>
            <a:off x="4773168" y="3749040"/>
            <a:ext cx="4005072" cy="256032"/>
          </a:xfrm>
          <a:prstGeom prst="rect">
            <a:avLst/>
          </a:prstGeom>
          <a:noFill/>
          <a:ln/>
        </p:spPr>
        <p:txBody>
          <a:bodyPr wrap="square" rtlCol="0" anchor="ctr"/>
          <a:lstStyle/>
          <a:p>
            <a:pPr marL="0" indent="0" algn="l">
              <a:buNone/>
            </a:pPr>
            <a:r>
              <a:rPr lang="en-US" sz="850" dirty="0">
                <a:solidFill>
                  <a:srgbClr val="6B7280"/>
                </a:solidFill>
              </a:rPr>
              <a:t>Reducing reliance on foreign digital solutions</a:t>
            </a:r>
            <a:endParaRPr lang="en-US" sz="850" dirty="0"/>
          </a:p>
        </p:txBody>
      </p:sp>
      <p:sp>
        <p:nvSpPr>
          <p:cNvPr id="30" name="Shape 28"/>
          <p:cNvSpPr/>
          <p:nvPr/>
        </p:nvSpPr>
        <p:spPr>
          <a:xfrm>
            <a:off x="4645152" y="4133088"/>
            <a:ext cx="54864" cy="457200"/>
          </a:xfrm>
          <a:prstGeom prst="rect">
            <a:avLst/>
          </a:prstGeom>
          <a:solidFill>
            <a:srgbClr val="0B6B3A"/>
          </a:solidFill>
          <a:ln/>
        </p:spPr>
        <p:txBody>
          <a:bodyPr/>
          <a:lstStyle/>
          <a:p>
            <a:endParaRPr lang="en-US"/>
          </a:p>
        </p:txBody>
      </p:sp>
      <p:sp>
        <p:nvSpPr>
          <p:cNvPr id="31" name="Text 29"/>
          <p:cNvSpPr/>
          <p:nvPr/>
        </p:nvSpPr>
        <p:spPr>
          <a:xfrm>
            <a:off x="4773168" y="4096512"/>
            <a:ext cx="4005072" cy="274320"/>
          </a:xfrm>
          <a:prstGeom prst="rect">
            <a:avLst/>
          </a:prstGeom>
          <a:noFill/>
          <a:ln/>
        </p:spPr>
        <p:txBody>
          <a:bodyPr wrap="square" rtlCol="0" anchor="ctr"/>
          <a:lstStyle/>
          <a:p>
            <a:pPr marL="0" indent="0" algn="l">
              <a:buNone/>
            </a:pPr>
            <a:r>
              <a:rPr lang="en-US" sz="950" b="1" dirty="0">
                <a:solidFill>
                  <a:srgbClr val="374151"/>
                </a:solidFill>
              </a:rPr>
              <a:t>المساهمة في تحقيق أهداف التحول الرقمي ٢٠٣٠</a:t>
            </a:r>
            <a:endParaRPr lang="en-US" sz="950" dirty="0"/>
          </a:p>
        </p:txBody>
      </p:sp>
      <p:sp>
        <p:nvSpPr>
          <p:cNvPr id="32" name="Text 30"/>
          <p:cNvSpPr/>
          <p:nvPr/>
        </p:nvSpPr>
        <p:spPr>
          <a:xfrm>
            <a:off x="4773168" y="4370832"/>
            <a:ext cx="4005072" cy="256032"/>
          </a:xfrm>
          <a:prstGeom prst="rect">
            <a:avLst/>
          </a:prstGeom>
          <a:noFill/>
          <a:ln/>
        </p:spPr>
        <p:txBody>
          <a:bodyPr wrap="square" rtlCol="0" anchor="ctr"/>
          <a:lstStyle/>
          <a:p>
            <a:pPr marL="0" indent="0" algn="l">
              <a:buNone/>
            </a:pPr>
            <a:r>
              <a:rPr lang="en-US" sz="850" dirty="0">
                <a:solidFill>
                  <a:srgbClr val="6B7280"/>
                </a:solidFill>
              </a:rPr>
              <a:t>Contributing to 2030 digital transformation goals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6B3A"/>
          </a:solidFill>
          <a:ln/>
        </p:spPr>
        <p:txBody>
          <a:bodyPr/>
          <a:lstStyle/>
          <a:p>
            <a:endParaRPr lang="en-US"/>
          </a:p>
        </p:txBody>
      </p:sp>
      <p:sp>
        <p:nvSpPr>
          <p:cNvPr id="3" name="Shape 1"/>
          <p:cNvSpPr/>
          <p:nvPr/>
        </p:nvSpPr>
        <p:spPr>
          <a:xfrm>
            <a:off x="9034272" y="0"/>
            <a:ext cx="109728" cy="5143500"/>
          </a:xfrm>
          <a:prstGeom prst="rect">
            <a:avLst/>
          </a:prstGeom>
          <a:solidFill>
            <a:srgbClr val="C9A228"/>
          </a:solidFill>
          <a:ln/>
        </p:spPr>
        <p:txBody>
          <a:bodyPr/>
          <a:lstStyle/>
          <a:p>
            <a:endParaRPr lang="en-US"/>
          </a:p>
        </p:txBody>
      </p:sp>
      <p:sp>
        <p:nvSpPr>
          <p:cNvPr id="4" name="Shape 2"/>
          <p:cNvSpPr/>
          <p:nvPr/>
        </p:nvSpPr>
        <p:spPr>
          <a:xfrm>
            <a:off x="320040" y="384048"/>
            <a:ext cx="5486400" cy="54864"/>
          </a:xfrm>
          <a:prstGeom prst="rect">
            <a:avLst/>
          </a:prstGeom>
          <a:solidFill>
            <a:srgbClr val="C9A228"/>
          </a:solidFill>
          <a:ln/>
        </p:spPr>
        <p:txBody>
          <a:bodyPr/>
          <a:lstStyle/>
          <a:p>
            <a:endParaRPr lang="en-US"/>
          </a:p>
        </p:txBody>
      </p:sp>
      <p:sp>
        <p:nvSpPr>
          <p:cNvPr id="5" name="Text 3"/>
          <p:cNvSpPr/>
          <p:nvPr/>
        </p:nvSpPr>
        <p:spPr>
          <a:xfrm>
            <a:off x="365760" y="548640"/>
            <a:ext cx="7772400" cy="685800"/>
          </a:xfrm>
          <a:prstGeom prst="rect">
            <a:avLst/>
          </a:prstGeom>
          <a:noFill/>
          <a:ln/>
        </p:spPr>
        <p:txBody>
          <a:bodyPr wrap="square" rtlCol="0" anchor="ctr"/>
          <a:lstStyle/>
          <a:p>
            <a:pPr marL="0" indent="0" algn="r">
              <a:buNone/>
            </a:pPr>
            <a:r>
              <a:rPr lang="en-US" sz="3600" b="1" dirty="0">
                <a:solidFill>
                  <a:srgbClr val="C9A228"/>
                </a:solidFill>
              </a:rPr>
              <a:t>شكراً لكم</a:t>
            </a:r>
            <a:endParaRPr lang="en-US" sz="3600" dirty="0"/>
          </a:p>
        </p:txBody>
      </p:sp>
      <p:sp>
        <p:nvSpPr>
          <p:cNvPr id="6" name="Text 4"/>
          <p:cNvSpPr/>
          <p:nvPr/>
        </p:nvSpPr>
        <p:spPr>
          <a:xfrm>
            <a:off x="365760" y="1188720"/>
            <a:ext cx="7772400" cy="594360"/>
          </a:xfrm>
          <a:prstGeom prst="rect">
            <a:avLst/>
          </a:prstGeom>
          <a:noFill/>
          <a:ln/>
        </p:spPr>
        <p:txBody>
          <a:bodyPr wrap="square" rtlCol="0" anchor="ctr"/>
          <a:lstStyle/>
          <a:p>
            <a:pPr marL="0" indent="0" algn="l">
              <a:buNone/>
            </a:pPr>
            <a:r>
              <a:rPr lang="en-US" sz="2800" b="1" dirty="0">
                <a:solidFill>
                  <a:srgbClr val="FFFFFF"/>
                </a:solidFill>
              </a:rPr>
              <a:t>Thank You</a:t>
            </a:r>
            <a:endParaRPr lang="en-US" sz="2800" dirty="0"/>
          </a:p>
        </p:txBody>
      </p:sp>
      <p:sp>
        <p:nvSpPr>
          <p:cNvPr id="7" name="Shape 5"/>
          <p:cNvSpPr/>
          <p:nvPr/>
        </p:nvSpPr>
        <p:spPr>
          <a:xfrm>
            <a:off x="320040" y="1901952"/>
            <a:ext cx="5486400" cy="54864"/>
          </a:xfrm>
          <a:prstGeom prst="rect">
            <a:avLst/>
          </a:prstGeom>
          <a:solidFill>
            <a:srgbClr val="C9A228"/>
          </a:solidFill>
          <a:ln/>
        </p:spPr>
        <p:txBody>
          <a:bodyPr/>
          <a:lstStyle/>
          <a:p>
            <a:endParaRPr lang="en-US"/>
          </a:p>
        </p:txBody>
      </p:sp>
      <p:sp>
        <p:nvSpPr>
          <p:cNvPr id="8" name="Text 6"/>
          <p:cNvSpPr/>
          <p:nvPr/>
        </p:nvSpPr>
        <p:spPr>
          <a:xfrm>
            <a:off x="365760" y="2057400"/>
            <a:ext cx="7772400" cy="594360"/>
          </a:xfrm>
          <a:prstGeom prst="rect">
            <a:avLst/>
          </a:prstGeom>
          <a:noFill/>
          <a:ln/>
        </p:spPr>
        <p:txBody>
          <a:bodyPr wrap="square" rtlCol="0" anchor="ctr"/>
          <a:lstStyle/>
          <a:p>
            <a:pPr marL="0" indent="0" algn="ctr">
              <a:buNone/>
            </a:pPr>
            <a:r>
              <a:rPr lang="en-US" sz="1300" dirty="0">
                <a:solidFill>
                  <a:srgbClr val="A8C4E0"/>
                </a:solidFill>
              </a:rPr>
              <a:t>نسعد بتواصلكم ومناقشة فرص الشراكة</a:t>
            </a:r>
            <a:endParaRPr lang="en-US" sz="1300" dirty="0"/>
          </a:p>
          <a:p>
            <a:pPr marL="0" indent="0" algn="ctr">
              <a:buNone/>
            </a:pPr>
            <a:r>
              <a:rPr lang="en-US" sz="1300" dirty="0">
                <a:solidFill>
                  <a:srgbClr val="A8C4E0"/>
                </a:solidFill>
              </a:rPr>
              <a:t>We look forward to your partnership</a:t>
            </a:r>
            <a:endParaRPr lang="en-US" sz="1300" dirty="0"/>
          </a:p>
        </p:txBody>
      </p:sp>
      <p:sp>
        <p:nvSpPr>
          <p:cNvPr id="9" name="Shape 7"/>
          <p:cNvSpPr/>
          <p:nvPr/>
        </p:nvSpPr>
        <p:spPr>
          <a:xfrm>
            <a:off x="1371600" y="2834640"/>
            <a:ext cx="6400800" cy="1719072"/>
          </a:xfrm>
          <a:prstGeom prst="rect">
            <a:avLst/>
          </a:prstGeom>
          <a:solidFill>
            <a:srgbClr val="0B1930"/>
          </a:solidFill>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1371600" y="2834640"/>
            <a:ext cx="6400800" cy="91440"/>
          </a:xfrm>
          <a:prstGeom prst="rect">
            <a:avLst/>
          </a:prstGeom>
          <a:solidFill>
            <a:srgbClr val="0B6B3A"/>
          </a:solidFill>
          <a:ln/>
        </p:spPr>
        <p:txBody>
          <a:bodyPr/>
          <a:lstStyle/>
          <a:p>
            <a:endParaRPr lang="en-US"/>
          </a:p>
        </p:txBody>
      </p:sp>
      <p:sp>
        <p:nvSpPr>
          <p:cNvPr id="11" name="Text 9"/>
          <p:cNvSpPr/>
          <p:nvPr/>
        </p:nvSpPr>
        <p:spPr>
          <a:xfrm>
            <a:off x="1463040" y="2971800"/>
            <a:ext cx="6217920" cy="384048"/>
          </a:xfrm>
          <a:prstGeom prst="rect">
            <a:avLst/>
          </a:prstGeom>
          <a:noFill/>
          <a:ln/>
        </p:spPr>
        <p:txBody>
          <a:bodyPr wrap="square" rtlCol="0" anchor="ctr"/>
          <a:lstStyle/>
          <a:p>
            <a:pPr marL="0" indent="0" algn="ctr">
              <a:buNone/>
            </a:pPr>
            <a:r>
              <a:rPr lang="en-US" sz="1400" b="1" dirty="0">
                <a:solidFill>
                  <a:srgbClr val="FFFFFF"/>
                </a:solidFill>
              </a:rPr>
              <a:t>Mohammed Abotargah  |  محمد أبوترجة</a:t>
            </a:r>
            <a:endParaRPr lang="en-US" sz="1400" dirty="0"/>
          </a:p>
        </p:txBody>
      </p:sp>
      <p:sp>
        <p:nvSpPr>
          <p:cNvPr id="12" name="Text 10"/>
          <p:cNvSpPr/>
          <p:nvPr/>
        </p:nvSpPr>
        <p:spPr>
          <a:xfrm>
            <a:off x="1463040" y="3337560"/>
            <a:ext cx="6217920" cy="292608"/>
          </a:xfrm>
          <a:prstGeom prst="rect">
            <a:avLst/>
          </a:prstGeom>
          <a:noFill/>
          <a:ln/>
        </p:spPr>
        <p:txBody>
          <a:bodyPr wrap="square" rtlCol="0" anchor="ctr"/>
          <a:lstStyle/>
          <a:p>
            <a:pPr marL="0" indent="0" algn="ctr">
              <a:buNone/>
            </a:pPr>
            <a:r>
              <a:rPr lang="en-US" sz="1100" dirty="0">
                <a:solidFill>
                  <a:srgbClr val="C9A228"/>
                </a:solidFill>
              </a:rPr>
              <a:t>Founder &amp; CEO  |  المؤسس والرئيس التنفيذي</a:t>
            </a:r>
            <a:endParaRPr lang="en-US" sz="1100" dirty="0"/>
          </a:p>
        </p:txBody>
      </p:sp>
      <p:sp>
        <p:nvSpPr>
          <p:cNvPr id="13" name="Text 11"/>
          <p:cNvSpPr/>
          <p:nvPr/>
        </p:nvSpPr>
        <p:spPr>
          <a:xfrm>
            <a:off x="1463040" y="3675888"/>
            <a:ext cx="6217920" cy="347472"/>
          </a:xfrm>
          <a:prstGeom prst="rect">
            <a:avLst/>
          </a:prstGeom>
          <a:noFill/>
          <a:ln/>
        </p:spPr>
        <p:txBody>
          <a:bodyPr wrap="square" rtlCol="0" anchor="ctr"/>
          <a:lstStyle/>
          <a:p>
            <a:pPr marL="0" indent="0" algn="ctr">
              <a:buNone/>
            </a:pPr>
            <a:r>
              <a:rPr lang="en-US" sz="1200" dirty="0">
                <a:solidFill>
                  <a:srgbClr val="A8C4E0"/>
                </a:solidFill>
              </a:rPr>
              <a:t>Email:  tarj123@gmail.com</a:t>
            </a:r>
            <a:endParaRPr lang="en-US" sz="1200" dirty="0"/>
          </a:p>
        </p:txBody>
      </p:sp>
      <p:sp>
        <p:nvSpPr>
          <p:cNvPr id="14" name="Text 12"/>
          <p:cNvSpPr/>
          <p:nvPr/>
        </p:nvSpPr>
        <p:spPr>
          <a:xfrm>
            <a:off x="1463040" y="4041648"/>
            <a:ext cx="6217920" cy="347472"/>
          </a:xfrm>
          <a:prstGeom prst="rect">
            <a:avLst/>
          </a:prstGeom>
          <a:noFill/>
          <a:ln/>
        </p:spPr>
        <p:txBody>
          <a:bodyPr wrap="square" rtlCol="0" anchor="ctr"/>
          <a:lstStyle/>
          <a:p>
            <a:pPr marL="0" indent="0" algn="ctr">
              <a:buNone/>
            </a:pPr>
            <a:r>
              <a:rPr lang="en-US" sz="1000" dirty="0">
                <a:solidFill>
                  <a:srgbClr val="6B7280"/>
                </a:solidFill>
              </a:rPr>
              <a:t>Kingdom of Saudi Arabia  |  المملكة العربية السعودية</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830</Words>
  <Application>Microsoft Office PowerPoint</Application>
  <PresentationFormat>On-screen Show (16:9)</PresentationFormat>
  <Paragraphs>191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Monshaat Funding Pitch – Tech Startup</dc:title>
  <dc:subject>PptxGenJS Presentation</dc:subject>
  <dc:creator>Mohammed Abotargah</dc:creator>
  <cp:lastModifiedBy>Office</cp:lastModifiedBy>
  <cp:revision>1</cp:revision>
  <dcterms:created xsi:type="dcterms:W3CDTF">2026-03-15T04:13:34Z</dcterms:created>
  <dcterms:modified xsi:type="dcterms:W3CDTF">2026-03-15T04:17:00Z</dcterms:modified>
</cp:coreProperties>
</file>